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lus Jakarta Sans ExtraBold"/>
      <p:bold r:id="rId31"/>
      <p:boldItalic r:id="rId32"/>
    </p:embeddedFont>
    <p:embeddedFont>
      <p:font typeface="Plus Jakarta Sans"/>
      <p:regular r:id="rId33"/>
      <p:bold r:id="rId34"/>
      <p:italic r:id="rId35"/>
      <p:boldItalic r:id="rId36"/>
    </p:embeddedFont>
    <p:embeddedFont>
      <p:font typeface="Plus Jakarta Sans Ligh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1" roundtripDataSignature="AMtx7mhZy12OXSSmZhTUGT8fIWLiAkD0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Light-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usJakartaSansExtraBold-bold.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usJakartaSans-regular.fntdata"/><Relationship Id="rId10" Type="http://schemas.openxmlformats.org/officeDocument/2006/relationships/slide" Target="slides/slide5.xml"/><Relationship Id="rId32" Type="http://schemas.openxmlformats.org/officeDocument/2006/relationships/font" Target="fonts/PlusJakartaSansExtraBold-boldItalic.fntdata"/><Relationship Id="rId13" Type="http://schemas.openxmlformats.org/officeDocument/2006/relationships/slide" Target="slides/slide8.xml"/><Relationship Id="rId35" Type="http://schemas.openxmlformats.org/officeDocument/2006/relationships/font" Target="fonts/PlusJakartaSans-italic.fntdata"/><Relationship Id="rId12" Type="http://schemas.openxmlformats.org/officeDocument/2006/relationships/slide" Target="slides/slide7.xml"/><Relationship Id="rId34" Type="http://schemas.openxmlformats.org/officeDocument/2006/relationships/font" Target="fonts/PlusJakartaSans-bold.fntdata"/><Relationship Id="rId15" Type="http://schemas.openxmlformats.org/officeDocument/2006/relationships/slide" Target="slides/slide10.xml"/><Relationship Id="rId37" Type="http://schemas.openxmlformats.org/officeDocument/2006/relationships/font" Target="fonts/PlusJakartaSansLight-regular.fntdata"/><Relationship Id="rId14" Type="http://schemas.openxmlformats.org/officeDocument/2006/relationships/slide" Target="slides/slide9.xml"/><Relationship Id="rId36" Type="http://schemas.openxmlformats.org/officeDocument/2006/relationships/font" Target="fonts/PlusJakartaSans-boldItalic.fntdata"/><Relationship Id="rId17" Type="http://schemas.openxmlformats.org/officeDocument/2006/relationships/slide" Target="slides/slide12.xml"/><Relationship Id="rId39" Type="http://schemas.openxmlformats.org/officeDocument/2006/relationships/font" Target="fonts/PlusJakartaSansLight-italic.fntdata"/><Relationship Id="rId16" Type="http://schemas.openxmlformats.org/officeDocument/2006/relationships/slide" Target="slides/slide11.xml"/><Relationship Id="rId38" Type="http://schemas.openxmlformats.org/officeDocument/2006/relationships/font" Target="fonts/PlusJakartaSans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9" name="Shape 9"/>
        <p:cNvGrpSpPr/>
        <p:nvPr/>
      </p:nvGrpSpPr>
      <p:grpSpPr>
        <a:xfrm>
          <a:off x="0" y="0"/>
          <a:ext cx="0" cy="0"/>
          <a:chOff x="0" y="0"/>
          <a:chExt cx="0" cy="0"/>
        </a:xfrm>
      </p:grpSpPr>
      <p:sp>
        <p:nvSpPr>
          <p:cNvPr id="10" name="Google Shape;1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1" name="Shape 11"/>
        <p:cNvGrpSpPr/>
        <p:nvPr/>
      </p:nvGrpSpPr>
      <p:grpSpPr>
        <a:xfrm>
          <a:off x="0" y="0"/>
          <a:ext cx="0" cy="0"/>
          <a:chOff x="0" y="0"/>
          <a:chExt cx="0" cy="0"/>
        </a:xfrm>
      </p:grpSpPr>
      <p:sp>
        <p:nvSpPr>
          <p:cNvPr id="12" name="Google Shape;1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3" name="Shape 13"/>
        <p:cNvGrpSpPr/>
        <p:nvPr/>
      </p:nvGrpSpPr>
      <p:grpSpPr>
        <a:xfrm>
          <a:off x="0" y="0"/>
          <a:ext cx="0" cy="0"/>
          <a:chOff x="0" y="0"/>
          <a:chExt cx="0" cy="0"/>
        </a:xfrm>
      </p:grpSpPr>
      <p:sp>
        <p:nvSpPr>
          <p:cNvPr id="14" name="Google Shape;1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5" name="Google Shape;15;p2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2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7" name="Google Shape;17;p2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8" name="Google Shape;18;p2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9" name="Shape 19"/>
        <p:cNvGrpSpPr/>
        <p:nvPr/>
      </p:nvGrpSpPr>
      <p:grpSpPr>
        <a:xfrm>
          <a:off x="0" y="0"/>
          <a:ext cx="0" cy="0"/>
          <a:chOff x="0" y="0"/>
          <a:chExt cx="0" cy="0"/>
        </a:xfrm>
      </p:grpSpPr>
      <p:sp>
        <p:nvSpPr>
          <p:cNvPr id="20" name="Google Shape;2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21" name="Shape 21"/>
        <p:cNvGrpSpPr/>
        <p:nvPr/>
      </p:nvGrpSpPr>
      <p:grpSpPr>
        <a:xfrm>
          <a:off x="0" y="0"/>
          <a:ext cx="0" cy="0"/>
          <a:chOff x="0" y="0"/>
          <a:chExt cx="0" cy="0"/>
        </a:xfrm>
      </p:grpSpPr>
      <p:pic>
        <p:nvPicPr>
          <p:cNvPr id="22" name="Google Shape;22;p31" title="27800720-6c2b-4e33-a6ed-849e08f57757.png"/>
          <p:cNvPicPr preferRelativeResize="0"/>
          <p:nvPr/>
        </p:nvPicPr>
        <p:blipFill rotWithShape="1">
          <a:blip r:embed="rId2">
            <a:alphaModFix/>
          </a:blip>
          <a:srcRect b="53400" l="0" r="0" t="15047"/>
          <a:stretch/>
        </p:blipFill>
        <p:spPr>
          <a:xfrm>
            <a:off x="-45875" y="-37100"/>
            <a:ext cx="9235751" cy="5180600"/>
          </a:xfrm>
          <a:prstGeom prst="rect">
            <a:avLst/>
          </a:prstGeom>
          <a:noFill/>
          <a:ln>
            <a:noFill/>
          </a:ln>
        </p:spPr>
      </p:pic>
      <p:sp>
        <p:nvSpPr>
          <p:cNvPr id="23" name="Google Shape;23;p3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4" name="Google Shape;24;p3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5" name="Google Shape;25;p3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26" name="Google Shape;26;p3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7" name="Shape 27"/>
        <p:cNvGrpSpPr/>
        <p:nvPr/>
      </p:nvGrpSpPr>
      <p:grpSpPr>
        <a:xfrm>
          <a:off x="0" y="0"/>
          <a:ext cx="0" cy="0"/>
          <a:chOff x="0" y="0"/>
          <a:chExt cx="0" cy="0"/>
        </a:xfrm>
      </p:grpSpPr>
      <p:sp>
        <p:nvSpPr>
          <p:cNvPr id="28" name="Google Shape;2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29" name="Shape 29"/>
        <p:cNvGrpSpPr/>
        <p:nvPr/>
      </p:nvGrpSpPr>
      <p:grpSpPr>
        <a:xfrm>
          <a:off x="0" y="0"/>
          <a:ext cx="0" cy="0"/>
          <a:chOff x="0" y="0"/>
          <a:chExt cx="0" cy="0"/>
        </a:xfrm>
      </p:grpSpPr>
      <p:pic>
        <p:nvPicPr>
          <p:cNvPr id="30" name="Google Shape;30;p33" title="pexels-dystopiasavagestudios-33048706 1.png"/>
          <p:cNvPicPr preferRelativeResize="0"/>
          <p:nvPr/>
        </p:nvPicPr>
        <p:blipFill rotWithShape="1">
          <a:blip r:embed="rId2">
            <a:alphaModFix/>
          </a:blip>
          <a:srcRect b="41729" l="0" r="0" t="13874"/>
          <a:stretch/>
        </p:blipFill>
        <p:spPr>
          <a:xfrm>
            <a:off x="-45875" y="-37100"/>
            <a:ext cx="9235753" cy="5180600"/>
          </a:xfrm>
          <a:prstGeom prst="rect">
            <a:avLst/>
          </a:prstGeom>
          <a:noFill/>
          <a:ln>
            <a:noFill/>
          </a:ln>
        </p:spPr>
      </p:pic>
      <p:sp>
        <p:nvSpPr>
          <p:cNvPr id="31" name="Google Shape;31;p33"/>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32" name="Google Shape;32;p33"/>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33" name="Google Shape;33;p33"/>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4" name="Google Shape;34;p33"/>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5" name="Shape 35"/>
        <p:cNvGrpSpPr/>
        <p:nvPr/>
      </p:nvGrpSpPr>
      <p:grpSpPr>
        <a:xfrm>
          <a:off x="0" y="0"/>
          <a:ext cx="0" cy="0"/>
          <a:chOff x="0" y="0"/>
          <a:chExt cx="0" cy="0"/>
        </a:xfrm>
      </p:grpSpPr>
      <p:sp>
        <p:nvSpPr>
          <p:cNvPr id="36" name="Google Shape;3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7" name="Google Shape;37;p34"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0" name="Google Shape;40;p3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1" name="Google Shape;4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3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4" name="Google Shape;4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sp>
        <p:nvSpPr>
          <p:cNvPr id="46" name="Google Shape;4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3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3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3" name="Google Shape;5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7" name="Shape 57"/>
        <p:cNvGrpSpPr/>
        <p:nvPr/>
      </p:nvGrpSpPr>
      <p:grpSpPr>
        <a:xfrm>
          <a:off x="0" y="0"/>
          <a:ext cx="0" cy="0"/>
          <a:chOff x="0" y="0"/>
          <a:chExt cx="0" cy="0"/>
        </a:xfrm>
      </p:grpSpPr>
      <p:sp>
        <p:nvSpPr>
          <p:cNvPr id="58" name="Google Shape;58;p4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9" name="Google Shape;59;p4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0" name="Google Shape;6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 name="Shape 61"/>
        <p:cNvGrpSpPr/>
        <p:nvPr/>
      </p:nvGrpSpPr>
      <p:grpSpPr>
        <a:xfrm>
          <a:off x="0" y="0"/>
          <a:ext cx="0" cy="0"/>
          <a:chOff x="0" y="0"/>
          <a:chExt cx="0" cy="0"/>
        </a:xfrm>
      </p:grpSpPr>
      <p:sp>
        <p:nvSpPr>
          <p:cNvPr id="62" name="Google Shape;62;p4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3" name="Google Shape;6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4" name="Shape 64"/>
        <p:cNvGrpSpPr/>
        <p:nvPr/>
      </p:nvGrpSpPr>
      <p:grpSpPr>
        <a:xfrm>
          <a:off x="0" y="0"/>
          <a:ext cx="0" cy="0"/>
          <a:chOff x="0" y="0"/>
          <a:chExt cx="0" cy="0"/>
        </a:xfrm>
      </p:grpSpPr>
      <p:sp>
        <p:nvSpPr>
          <p:cNvPr id="65" name="Google Shape;65;p4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4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7" name="Google Shape;67;p4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8" name="Google Shape;68;p4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9" name="Google Shape;6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4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2" name="Google Shape;7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4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5" name="Google Shape;75;p4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6" name="Google Shape;7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77" name="Shape 77"/>
        <p:cNvGrpSpPr/>
        <p:nvPr/>
      </p:nvGrpSpPr>
      <p:grpSpPr>
        <a:xfrm>
          <a:off x="0" y="0"/>
          <a:ext cx="0" cy="0"/>
          <a:chOff x="0" y="0"/>
          <a:chExt cx="0" cy="0"/>
        </a:xfrm>
      </p:grpSpPr>
      <p:pic>
        <p:nvPicPr>
          <p:cNvPr id="78" name="Google Shape;78;p45" title="4d917f2d-7c08-49ef-b177-326a60a5c815.png"/>
          <p:cNvPicPr preferRelativeResize="0"/>
          <p:nvPr/>
        </p:nvPicPr>
        <p:blipFill rotWithShape="1">
          <a:blip r:embed="rId2">
            <a:alphaModFix/>
          </a:blip>
          <a:srcRect b="23542" l="0" r="0" t="34388"/>
          <a:stretch/>
        </p:blipFill>
        <p:spPr>
          <a:xfrm>
            <a:off x="-45875" y="-37100"/>
            <a:ext cx="9235753" cy="5180600"/>
          </a:xfrm>
          <a:prstGeom prst="rect">
            <a:avLst/>
          </a:prstGeom>
          <a:noFill/>
          <a:ln>
            <a:noFill/>
          </a:ln>
        </p:spPr>
      </p:pic>
      <p:sp>
        <p:nvSpPr>
          <p:cNvPr id="79" name="Google Shape;79;p45"/>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0" name="Google Shape;80;p45"/>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1" name="Google Shape;81;p45"/>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45"/>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3" name="Shape 83"/>
        <p:cNvGrpSpPr/>
        <p:nvPr/>
      </p:nvGrpSpPr>
      <p:grpSpPr>
        <a:xfrm>
          <a:off x="0" y="0"/>
          <a:ext cx="0" cy="0"/>
          <a:chOff x="0" y="0"/>
          <a:chExt cx="0" cy="0"/>
        </a:xfrm>
      </p:grpSpPr>
      <p:sp>
        <p:nvSpPr>
          <p:cNvPr id="84" name="Google Shape;84;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85" name="Shape 85"/>
        <p:cNvGrpSpPr/>
        <p:nvPr/>
      </p:nvGrpSpPr>
      <p:grpSpPr>
        <a:xfrm>
          <a:off x="0" y="0"/>
          <a:ext cx="0" cy="0"/>
          <a:chOff x="0" y="0"/>
          <a:chExt cx="0" cy="0"/>
        </a:xfrm>
      </p:grpSpPr>
      <p:pic>
        <p:nvPicPr>
          <p:cNvPr id="86" name="Google Shape;86;p47"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Fundamentos de Agentes Autónomos con n8n</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nvSpPr>
        <p:spPr>
          <a:xfrm>
            <a:off x="652525" y="1336525"/>
            <a:ext cx="3873300" cy="17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8" name="Google Shape;98;p2"/>
          <p:cNvSpPr/>
          <p:nvPr/>
        </p:nvSpPr>
        <p:spPr>
          <a:xfrm>
            <a:off x="3601525" y="3168750"/>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nvSpPr>
        <p:spPr>
          <a:xfrm>
            <a:off x="1340550" y="656475"/>
            <a:ext cx="6462900" cy="84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Presentación</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del </a:t>
            </a:r>
            <a:r>
              <a:rPr b="0" i="0" lang="es" sz="2800" u="none" cap="none" strike="noStrike">
                <a:solidFill>
                  <a:srgbClr val="260700"/>
                </a:solidFill>
                <a:highlight>
                  <a:srgbClr val="FDAB2E"/>
                </a:highlight>
                <a:latin typeface="Plus Jakarta Sans ExtraBold"/>
                <a:ea typeface="Plus Jakarta Sans ExtraBold"/>
                <a:cs typeface="Plus Jakarta Sans ExtraBold"/>
                <a:sym typeface="Plus Jakarta Sans ExtraBold"/>
              </a:rPr>
              <a:t>equipo</a:t>
            </a:r>
            <a:r>
              <a:rPr b="0" i="0" lang="es" sz="2800" u="none" cap="none" strike="noStrike">
                <a:solidFill>
                  <a:srgbClr val="260700"/>
                </a:solidFill>
                <a:latin typeface="Plus Jakarta Sans ExtraBold"/>
                <a:ea typeface="Plus Jakarta Sans ExtraBold"/>
                <a:cs typeface="Plus Jakarta Sans ExtraBold"/>
                <a:sym typeface="Plus Jakarta Sans ExtraBold"/>
              </a:rPr>
              <a:t>:</a:t>
            </a:r>
            <a:endParaRPr b="0" i="0" sz="2800" u="none" cap="none" strike="noStrike">
              <a:solidFill>
                <a:srgbClr val="260700"/>
              </a:solidFill>
              <a:latin typeface="Plus Jakarta Sans"/>
              <a:ea typeface="Plus Jakarta Sans"/>
              <a:cs typeface="Plus Jakarta Sans"/>
              <a:sym typeface="Plus Jakarta Sans"/>
            </a:endParaRPr>
          </a:p>
        </p:txBody>
      </p:sp>
      <p:sp>
        <p:nvSpPr>
          <p:cNvPr id="104" name="Google Shape;104;p3"/>
          <p:cNvSpPr/>
          <p:nvPr/>
        </p:nvSpPr>
        <p:spPr>
          <a:xfrm>
            <a:off x="1228250"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6" marR="0" rtl="0" algn="l">
              <a:lnSpc>
                <a:spcPct val="100000"/>
              </a:lnSpc>
              <a:spcBef>
                <a:spcPts val="0"/>
              </a:spcBef>
              <a:spcAft>
                <a:spcPts val="0"/>
              </a:spcAft>
              <a:buClr>
                <a:srgbClr val="000000"/>
              </a:buClr>
              <a:buSzPts val="1300"/>
              <a:buFont typeface="Arial"/>
              <a:buNone/>
            </a:pPr>
            <a:r>
              <a:rPr b="1" i="0" lang="es" sz="1300" u="none" cap="none" strike="noStrike">
                <a:solidFill>
                  <a:srgbClr val="F8F2E8"/>
                </a:solidFill>
                <a:latin typeface="Plus Jakarta Sans"/>
                <a:ea typeface="Plus Jakarta Sans"/>
                <a:cs typeface="Plus Jakarta Sans"/>
                <a:sym typeface="Plus Jakarta Sans"/>
              </a:rPr>
              <a:t>Profesor:</a:t>
            </a:r>
            <a:endParaRPr b="1" i="0" sz="1300" u="none" cap="none" strike="noStrike">
              <a:solidFill>
                <a:srgbClr val="F8F2E8"/>
              </a:solidFill>
              <a:latin typeface="Plus Jakarta Sans"/>
              <a:ea typeface="Plus Jakarta Sans"/>
              <a:cs typeface="Plus Jakarta Sans"/>
              <a:sym typeface="Plus Jakarta Sans"/>
            </a:endParaRPr>
          </a:p>
          <a:p>
            <a:pPr indent="0" lvl="0" marL="165216" marR="0" rtl="0" algn="l">
              <a:lnSpc>
                <a:spcPct val="100000"/>
              </a:lnSpc>
              <a:spcBef>
                <a:spcPts val="0"/>
              </a:spcBef>
              <a:spcAft>
                <a:spcPts val="0"/>
              </a:spcAft>
              <a:buClr>
                <a:srgbClr val="000000"/>
              </a:buClr>
              <a:buSzPts val="800"/>
              <a:buFont typeface="Arial"/>
              <a:buNone/>
            </a:pPr>
            <a:r>
              <a:rPr b="0" i="0" lang="es" sz="800" u="none" cap="none" strike="noStrike">
                <a:solidFill>
                  <a:srgbClr val="F8F2E8"/>
                </a:solidFill>
                <a:latin typeface="Plus Jakarta Sans"/>
                <a:ea typeface="Plus Jakarta Sans"/>
                <a:cs typeface="Plus Jakarta Sans"/>
                <a:sym typeface="Plus Jakarta Sans"/>
              </a:rPr>
              <a:t>Lucas Pereyra</a:t>
            </a:r>
            <a:endParaRPr b="0" i="0" sz="1400" u="none" cap="none" strike="noStrike">
              <a:solidFill>
                <a:schemeClr val="lt1"/>
              </a:solidFill>
              <a:latin typeface="Arial"/>
              <a:ea typeface="Arial"/>
              <a:cs typeface="Arial"/>
              <a:sym typeface="Arial"/>
            </a:endParaRPr>
          </a:p>
        </p:txBody>
      </p:sp>
      <p:sp>
        <p:nvSpPr>
          <p:cNvPr id="105" name="Google Shape;105;p3"/>
          <p:cNvSpPr/>
          <p:nvPr/>
        </p:nvSpPr>
        <p:spPr>
          <a:xfrm>
            <a:off x="5807200"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6" marR="0" rtl="0" algn="l">
              <a:lnSpc>
                <a:spcPct val="100000"/>
              </a:lnSpc>
              <a:spcBef>
                <a:spcPts val="0"/>
              </a:spcBef>
              <a:spcAft>
                <a:spcPts val="0"/>
              </a:spcAft>
              <a:buClr>
                <a:schemeClr val="dk1"/>
              </a:buClr>
              <a:buSzPts val="1100"/>
              <a:buFont typeface="Arial"/>
              <a:buNone/>
            </a:pPr>
            <a:r>
              <a:rPr b="1" lang="es" sz="1300">
                <a:solidFill>
                  <a:srgbClr val="F8F2E8"/>
                </a:solidFill>
                <a:latin typeface="Plus Jakarta Sans"/>
                <a:ea typeface="Plus Jakarta Sans"/>
                <a:cs typeface="Plus Jakarta Sans"/>
                <a:sym typeface="Plus Jakarta Sans"/>
              </a:rPr>
              <a:t>Profesor</a:t>
            </a:r>
            <a:r>
              <a:rPr b="1" i="0" lang="es" sz="1300" u="none" cap="none" strike="noStrike">
                <a:solidFill>
                  <a:srgbClr val="F8F2E8"/>
                </a:solidFill>
                <a:latin typeface="Plus Jakarta Sans"/>
                <a:ea typeface="Plus Jakarta Sans"/>
                <a:cs typeface="Plus Jakarta Sans"/>
                <a:sym typeface="Plus Jakarta Sans"/>
              </a:rPr>
              <a:t>:</a:t>
            </a:r>
            <a:endParaRPr b="1" i="0" sz="1300" u="none" cap="none" strike="noStrike">
              <a:solidFill>
                <a:srgbClr val="F8F2E8"/>
              </a:solidFill>
              <a:latin typeface="Plus Jakarta Sans"/>
              <a:ea typeface="Plus Jakarta Sans"/>
              <a:cs typeface="Plus Jakarta Sans"/>
              <a:sym typeface="Plus Jakarta Sans"/>
            </a:endParaRPr>
          </a:p>
          <a:p>
            <a:pPr indent="0" lvl="0" marL="165216" marR="0" rtl="0" algn="l">
              <a:lnSpc>
                <a:spcPct val="100000"/>
              </a:lnSpc>
              <a:spcBef>
                <a:spcPts val="0"/>
              </a:spcBef>
              <a:spcAft>
                <a:spcPts val="0"/>
              </a:spcAft>
              <a:buClr>
                <a:schemeClr val="dk1"/>
              </a:buClr>
              <a:buSzPts val="1100"/>
              <a:buFont typeface="Arial"/>
              <a:buNone/>
            </a:pPr>
            <a:r>
              <a:rPr lang="es" sz="800">
                <a:solidFill>
                  <a:srgbClr val="F8F2E8"/>
                </a:solidFill>
                <a:latin typeface="Plus Jakarta Sans"/>
                <a:ea typeface="Plus Jakarta Sans"/>
                <a:cs typeface="Plus Jakarta Sans"/>
                <a:sym typeface="Plus Jakarta Sans"/>
              </a:rPr>
              <a:t>Maximiliano Rosanda</a:t>
            </a:r>
            <a:endParaRPr b="1" i="0" sz="1300" u="none" cap="none" strike="noStrike">
              <a:solidFill>
                <a:srgbClr val="F8F2E8"/>
              </a:solidFill>
              <a:latin typeface="Plus Jakarta Sans"/>
              <a:ea typeface="Plus Jakarta Sans"/>
              <a:cs typeface="Plus Jakarta Sans"/>
              <a:sym typeface="Plus Jakarta Sans"/>
            </a:endParaRPr>
          </a:p>
        </p:txBody>
      </p:sp>
      <p:sp>
        <p:nvSpPr>
          <p:cNvPr id="106" name="Google Shape;106;p3"/>
          <p:cNvSpPr/>
          <p:nvPr/>
        </p:nvSpPr>
        <p:spPr>
          <a:xfrm>
            <a:off x="6624550" y="1200525"/>
            <a:ext cx="1117200" cy="424200"/>
          </a:xfrm>
          <a:prstGeom prst="wedgeRectCallout">
            <a:avLst>
              <a:gd fmla="val -33452" name="adj1"/>
              <a:gd fmla="val 98680" name="adj2"/>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s" sz="700" u="none" cap="none" strike="noStrike">
                <a:solidFill>
                  <a:srgbClr val="F8F2E8"/>
                </a:solidFill>
                <a:latin typeface="Plus Jakarta Sans"/>
                <a:ea typeface="Plus Jakarta Sans"/>
                <a:cs typeface="Plus Jakarta Sans"/>
                <a:sym typeface="Plus Jakarta Sans"/>
              </a:rPr>
              <a:t>COMISIÓN N° </a:t>
            </a:r>
            <a:r>
              <a:rPr lang="es" sz="700">
                <a:solidFill>
                  <a:srgbClr val="F8F2E8"/>
                </a:solidFill>
                <a:latin typeface="Plus Jakarta Sans"/>
                <a:ea typeface="Plus Jakarta Sans"/>
                <a:cs typeface="Plus Jakarta Sans"/>
                <a:sym typeface="Plus Jakarta Sans"/>
              </a:rPr>
              <a:t>102000</a:t>
            </a:r>
            <a:endParaRPr b="0" i="0" sz="7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p:nvPr/>
        </p:nvSpPr>
        <p:spPr>
          <a:xfrm>
            <a:off x="1219812" y="3707427"/>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nvSpPr>
        <p:spPr>
          <a:xfrm>
            <a:off x="2271437" y="3707427"/>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4"/>
          <p:cNvSpPr/>
          <p:nvPr/>
        </p:nvSpPr>
        <p:spPr>
          <a:xfrm>
            <a:off x="4453287" y="3761727"/>
            <a:ext cx="68700" cy="687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
          <p:cNvSpPr txBox="1"/>
          <p:nvPr/>
        </p:nvSpPr>
        <p:spPr>
          <a:xfrm>
            <a:off x="830537" y="3118827"/>
            <a:ext cx="10197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Kick Off</a:t>
            </a:r>
            <a:endParaRPr b="0" i="0" sz="1100" u="none" cap="none" strike="noStrike">
              <a:solidFill>
                <a:srgbClr val="260700"/>
              </a:solidFill>
              <a:latin typeface="Plus Jakarta Sans"/>
              <a:ea typeface="Plus Jakarta Sans"/>
              <a:cs typeface="Plus Jakarta Sans"/>
              <a:sym typeface="Plus Jakarta Sans"/>
            </a:endParaRPr>
          </a:p>
        </p:txBody>
      </p:sp>
      <p:grpSp>
        <p:nvGrpSpPr>
          <p:cNvPr id="115" name="Google Shape;115;p4"/>
          <p:cNvGrpSpPr/>
          <p:nvPr/>
        </p:nvGrpSpPr>
        <p:grpSpPr>
          <a:xfrm>
            <a:off x="4374687" y="3683127"/>
            <a:ext cx="225900" cy="225900"/>
            <a:chOff x="1547875" y="1967100"/>
            <a:chExt cx="225900" cy="225900"/>
          </a:xfrm>
        </p:grpSpPr>
        <p:sp>
          <p:nvSpPr>
            <p:cNvPr id="116" name="Google Shape;116;p4"/>
            <p:cNvSpPr/>
            <p:nvPr/>
          </p:nvSpPr>
          <p:spPr>
            <a:xfrm>
              <a:off x="1547875" y="1967100"/>
              <a:ext cx="225900" cy="2259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
            <p:cNvSpPr/>
            <p:nvPr/>
          </p:nvSpPr>
          <p:spPr>
            <a:xfrm>
              <a:off x="1596325" y="2015550"/>
              <a:ext cx="129000" cy="129000"/>
            </a:xfrm>
            <a:prstGeom prst="ellipse">
              <a:avLst/>
            </a:prstGeom>
            <a:solidFill>
              <a:srgbClr val="F8F2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 name="Google Shape;118;p4"/>
          <p:cNvSpPr txBox="1"/>
          <p:nvPr/>
        </p:nvSpPr>
        <p:spPr>
          <a:xfrm>
            <a:off x="1850237" y="3118827"/>
            <a:ext cx="10197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Clase 1</a:t>
            </a:r>
            <a:endParaRPr b="0" i="0" sz="1100" u="none" cap="none" strike="noStrike">
              <a:solidFill>
                <a:srgbClr val="260700"/>
              </a:solidFill>
              <a:latin typeface="Plus Jakarta Sans"/>
              <a:ea typeface="Plus Jakarta Sans"/>
              <a:cs typeface="Plus Jakarta Sans"/>
              <a:sym typeface="Plus Jakarta Sans"/>
            </a:endParaRPr>
          </a:p>
        </p:txBody>
      </p:sp>
      <p:sp>
        <p:nvSpPr>
          <p:cNvPr id="119" name="Google Shape;119;p4"/>
          <p:cNvSpPr/>
          <p:nvPr/>
        </p:nvSpPr>
        <p:spPr>
          <a:xfrm>
            <a:off x="3323049" y="3707427"/>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
          <p:cNvSpPr txBox="1"/>
          <p:nvPr/>
        </p:nvSpPr>
        <p:spPr>
          <a:xfrm>
            <a:off x="2901862" y="2716914"/>
            <a:ext cx="1019700" cy="743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Checkpoint</a:t>
            </a:r>
            <a:endParaRPr b="0" i="0" sz="1100" u="none" cap="none" strike="noStrike">
              <a:solidFill>
                <a:srgbClr val="260700"/>
              </a:solidFill>
              <a:latin typeface="Plus Jakarta Sans"/>
              <a:ea typeface="Plus Jakarta Sans"/>
              <a:cs typeface="Plus Jakarta Sans"/>
              <a:sym typeface="Plus Jakarta Sans"/>
            </a:endParaRPr>
          </a:p>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Checkpoint</a:t>
            </a:r>
            <a:endParaRPr b="0" i="0" sz="1100" u="none" cap="none" strike="noStrike">
              <a:solidFill>
                <a:srgbClr val="260700"/>
              </a:solidFill>
              <a:latin typeface="Plus Jakarta Sans"/>
              <a:ea typeface="Plus Jakarta Sans"/>
              <a:cs typeface="Plus Jakarta Sans"/>
              <a:sym typeface="Plus Jakarta Sans"/>
            </a:endParaRPr>
          </a:p>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Checkpoint</a:t>
            </a:r>
            <a:endParaRPr b="0" i="0" sz="1100" u="none" cap="none" strike="noStrike">
              <a:solidFill>
                <a:srgbClr val="260700"/>
              </a:solidFill>
              <a:latin typeface="Plus Jakarta Sans"/>
              <a:ea typeface="Plus Jakarta Sans"/>
              <a:cs typeface="Plus Jakarta Sans"/>
              <a:sym typeface="Plus Jakarta Sans"/>
            </a:endParaRPr>
          </a:p>
        </p:txBody>
      </p:sp>
      <p:sp>
        <p:nvSpPr>
          <p:cNvPr id="121" name="Google Shape;121;p4"/>
          <p:cNvSpPr txBox="1"/>
          <p:nvPr/>
        </p:nvSpPr>
        <p:spPr>
          <a:xfrm>
            <a:off x="3977787" y="2911627"/>
            <a:ext cx="1019700" cy="5487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highlight>
                  <a:srgbClr val="FDAB2E"/>
                </a:highlight>
                <a:latin typeface="Plus Jakarta Sans"/>
                <a:ea typeface="Plus Jakarta Sans"/>
                <a:cs typeface="Plus Jakarta Sans"/>
                <a:sym typeface="Plus Jakarta Sans"/>
              </a:rPr>
              <a:t>Entrega intermedia</a:t>
            </a:r>
            <a:endParaRPr b="0" i="0" sz="1100" u="none" cap="none" strike="noStrike">
              <a:solidFill>
                <a:srgbClr val="260700"/>
              </a:solidFill>
              <a:highlight>
                <a:srgbClr val="FDAB2E"/>
              </a:highlight>
              <a:latin typeface="Plus Jakarta Sans"/>
              <a:ea typeface="Plus Jakarta Sans"/>
              <a:cs typeface="Plus Jakarta Sans"/>
              <a:sym typeface="Plus Jakarta Sans"/>
            </a:endParaRPr>
          </a:p>
        </p:txBody>
      </p:sp>
      <p:sp>
        <p:nvSpPr>
          <p:cNvPr id="122" name="Google Shape;122;p4"/>
          <p:cNvSpPr/>
          <p:nvPr/>
        </p:nvSpPr>
        <p:spPr>
          <a:xfrm>
            <a:off x="5474899" y="3707427"/>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
          <p:cNvSpPr txBox="1"/>
          <p:nvPr/>
        </p:nvSpPr>
        <p:spPr>
          <a:xfrm>
            <a:off x="5053712" y="2712989"/>
            <a:ext cx="1019700" cy="743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Checkpoint</a:t>
            </a:r>
            <a:endParaRPr b="0" i="0" sz="1100" u="none" cap="none" strike="noStrike">
              <a:solidFill>
                <a:srgbClr val="260700"/>
              </a:solidFill>
              <a:latin typeface="Plus Jakarta Sans"/>
              <a:ea typeface="Plus Jakarta Sans"/>
              <a:cs typeface="Plus Jakarta Sans"/>
              <a:sym typeface="Plus Jakarta Sans"/>
            </a:endParaRPr>
          </a:p>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Checkpoint</a:t>
            </a:r>
            <a:endParaRPr b="0" i="0" sz="1100" u="none" cap="none" strike="noStrike">
              <a:solidFill>
                <a:srgbClr val="260700"/>
              </a:solidFill>
              <a:latin typeface="Plus Jakarta Sans"/>
              <a:ea typeface="Plus Jakarta Sans"/>
              <a:cs typeface="Plus Jakarta Sans"/>
              <a:sym typeface="Plus Jakarta Sans"/>
            </a:endParaRPr>
          </a:p>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Checkpoint</a:t>
            </a:r>
            <a:endParaRPr b="0" i="0" sz="1100" u="none" cap="none" strike="noStrike">
              <a:solidFill>
                <a:srgbClr val="260700"/>
              </a:solidFill>
              <a:latin typeface="Plus Jakarta Sans"/>
              <a:ea typeface="Plus Jakarta Sans"/>
              <a:cs typeface="Plus Jakarta Sans"/>
              <a:sym typeface="Plus Jakarta Sans"/>
            </a:endParaRPr>
          </a:p>
        </p:txBody>
      </p:sp>
      <p:sp>
        <p:nvSpPr>
          <p:cNvPr id="124" name="Google Shape;124;p4"/>
          <p:cNvSpPr/>
          <p:nvPr/>
        </p:nvSpPr>
        <p:spPr>
          <a:xfrm>
            <a:off x="6526537" y="3683127"/>
            <a:ext cx="225900" cy="2259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4"/>
          <p:cNvSpPr/>
          <p:nvPr/>
        </p:nvSpPr>
        <p:spPr>
          <a:xfrm>
            <a:off x="6574987" y="3731577"/>
            <a:ext cx="129000" cy="129000"/>
          </a:xfrm>
          <a:prstGeom prst="ellipse">
            <a:avLst/>
          </a:prstGeom>
          <a:solidFill>
            <a:srgbClr val="260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
          <p:cNvSpPr/>
          <p:nvPr/>
        </p:nvSpPr>
        <p:spPr>
          <a:xfrm>
            <a:off x="6605137" y="3761727"/>
            <a:ext cx="68700" cy="68700"/>
          </a:xfrm>
          <a:prstGeom prst="ellipse">
            <a:avLst/>
          </a:prstGeom>
          <a:solidFill>
            <a:srgbClr val="F8F2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
          <p:cNvSpPr txBox="1"/>
          <p:nvPr/>
        </p:nvSpPr>
        <p:spPr>
          <a:xfrm>
            <a:off x="6129637" y="2911627"/>
            <a:ext cx="1019700" cy="5487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Proyecto</a:t>
            </a:r>
            <a:endParaRPr b="0" i="0" sz="1100" u="none" cap="none" strike="noStrike">
              <a:solidFill>
                <a:srgbClr val="260700"/>
              </a:solidFill>
              <a:latin typeface="Plus Jakarta Sans"/>
              <a:ea typeface="Plus Jakarta Sans"/>
              <a:cs typeface="Plus Jakarta Sans"/>
              <a:sym typeface="Plus Jakarta Sans"/>
            </a:endParaRPr>
          </a:p>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final</a:t>
            </a:r>
            <a:endParaRPr b="0" i="0" sz="1100" u="none" cap="none" strike="noStrike">
              <a:solidFill>
                <a:srgbClr val="260700"/>
              </a:solidFill>
              <a:latin typeface="Plus Jakarta Sans"/>
              <a:ea typeface="Plus Jakarta Sans"/>
              <a:cs typeface="Plus Jakarta Sans"/>
              <a:sym typeface="Plus Jakarta Sans"/>
            </a:endParaRPr>
          </a:p>
        </p:txBody>
      </p:sp>
      <p:sp>
        <p:nvSpPr>
          <p:cNvPr id="128" name="Google Shape;128;p4"/>
          <p:cNvSpPr/>
          <p:nvPr/>
        </p:nvSpPr>
        <p:spPr>
          <a:xfrm>
            <a:off x="7626762" y="3707427"/>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
          <p:cNvSpPr txBox="1"/>
          <p:nvPr/>
        </p:nvSpPr>
        <p:spPr>
          <a:xfrm>
            <a:off x="7205562" y="3118827"/>
            <a:ext cx="10197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 sz="1100" u="none" cap="none" strike="noStrike">
                <a:solidFill>
                  <a:srgbClr val="260700"/>
                </a:solidFill>
                <a:latin typeface="Plus Jakarta Sans"/>
                <a:ea typeface="Plus Jakarta Sans"/>
                <a:cs typeface="Plus Jakarta Sans"/>
                <a:sym typeface="Plus Jakarta Sans"/>
              </a:rPr>
              <a:t>Certificado</a:t>
            </a:r>
            <a:endParaRPr b="0" i="0" sz="1100" u="none" cap="none" strike="noStrike">
              <a:solidFill>
                <a:srgbClr val="260700"/>
              </a:solidFill>
              <a:latin typeface="Plus Jakarta Sans"/>
              <a:ea typeface="Plus Jakarta Sans"/>
              <a:cs typeface="Plus Jakarta Sans"/>
              <a:sym typeface="Plus Jakarta Sans"/>
            </a:endParaRPr>
          </a:p>
        </p:txBody>
      </p:sp>
      <p:cxnSp>
        <p:nvCxnSpPr>
          <p:cNvPr id="130" name="Google Shape;130;p4"/>
          <p:cNvCxnSpPr>
            <a:stCxn id="111" idx="6"/>
            <a:endCxn id="112" idx="2"/>
          </p:cNvCxnSpPr>
          <p:nvPr/>
        </p:nvCxnSpPr>
        <p:spPr>
          <a:xfrm>
            <a:off x="1397112" y="3796077"/>
            <a:ext cx="874200" cy="0"/>
          </a:xfrm>
          <a:prstGeom prst="straightConnector1">
            <a:avLst/>
          </a:prstGeom>
          <a:noFill/>
          <a:ln cap="flat" cmpd="sng" w="9525">
            <a:solidFill>
              <a:srgbClr val="FDAB2E"/>
            </a:solidFill>
            <a:prstDash val="solid"/>
            <a:round/>
            <a:headEnd len="sm" w="sm" type="none"/>
            <a:tailEnd len="sm" w="sm" type="none"/>
          </a:ln>
        </p:spPr>
      </p:cxnSp>
      <p:cxnSp>
        <p:nvCxnSpPr>
          <p:cNvPr id="131" name="Google Shape;131;p4"/>
          <p:cNvCxnSpPr>
            <a:stCxn id="112" idx="6"/>
            <a:endCxn id="119" idx="2"/>
          </p:cNvCxnSpPr>
          <p:nvPr/>
        </p:nvCxnSpPr>
        <p:spPr>
          <a:xfrm>
            <a:off x="2448737" y="3796077"/>
            <a:ext cx="874200" cy="0"/>
          </a:xfrm>
          <a:prstGeom prst="straightConnector1">
            <a:avLst/>
          </a:prstGeom>
          <a:noFill/>
          <a:ln cap="flat" cmpd="sng" w="9525">
            <a:solidFill>
              <a:srgbClr val="FDAB2E"/>
            </a:solidFill>
            <a:prstDash val="solid"/>
            <a:round/>
            <a:headEnd len="sm" w="sm" type="none"/>
            <a:tailEnd len="sm" w="sm" type="none"/>
          </a:ln>
        </p:spPr>
      </p:cxnSp>
      <p:cxnSp>
        <p:nvCxnSpPr>
          <p:cNvPr id="132" name="Google Shape;132;p4"/>
          <p:cNvCxnSpPr>
            <a:stCxn id="119" idx="6"/>
            <a:endCxn id="116" idx="2"/>
          </p:cNvCxnSpPr>
          <p:nvPr/>
        </p:nvCxnSpPr>
        <p:spPr>
          <a:xfrm>
            <a:off x="3500349" y="3796077"/>
            <a:ext cx="874200" cy="0"/>
          </a:xfrm>
          <a:prstGeom prst="straightConnector1">
            <a:avLst/>
          </a:prstGeom>
          <a:noFill/>
          <a:ln cap="flat" cmpd="sng" w="9525">
            <a:solidFill>
              <a:srgbClr val="FDAB2E"/>
            </a:solidFill>
            <a:prstDash val="solid"/>
            <a:round/>
            <a:headEnd len="sm" w="sm" type="none"/>
            <a:tailEnd len="sm" w="sm" type="none"/>
          </a:ln>
        </p:spPr>
      </p:cxnSp>
      <p:cxnSp>
        <p:nvCxnSpPr>
          <p:cNvPr id="133" name="Google Shape;133;p4"/>
          <p:cNvCxnSpPr>
            <a:endCxn id="122" idx="2"/>
          </p:cNvCxnSpPr>
          <p:nvPr/>
        </p:nvCxnSpPr>
        <p:spPr>
          <a:xfrm>
            <a:off x="4600699" y="3796077"/>
            <a:ext cx="874200" cy="0"/>
          </a:xfrm>
          <a:prstGeom prst="straightConnector1">
            <a:avLst/>
          </a:prstGeom>
          <a:noFill/>
          <a:ln cap="flat" cmpd="sng" w="9525">
            <a:solidFill>
              <a:srgbClr val="FDAB2E"/>
            </a:solidFill>
            <a:prstDash val="solid"/>
            <a:round/>
            <a:headEnd len="sm" w="sm" type="none"/>
            <a:tailEnd len="sm" w="sm" type="none"/>
          </a:ln>
        </p:spPr>
      </p:cxnSp>
      <p:cxnSp>
        <p:nvCxnSpPr>
          <p:cNvPr id="134" name="Google Shape;134;p4"/>
          <p:cNvCxnSpPr>
            <a:stCxn id="122" idx="6"/>
            <a:endCxn id="124" idx="2"/>
          </p:cNvCxnSpPr>
          <p:nvPr/>
        </p:nvCxnSpPr>
        <p:spPr>
          <a:xfrm>
            <a:off x="5652199" y="3796077"/>
            <a:ext cx="874200" cy="0"/>
          </a:xfrm>
          <a:prstGeom prst="straightConnector1">
            <a:avLst/>
          </a:prstGeom>
          <a:noFill/>
          <a:ln cap="flat" cmpd="sng" w="9525">
            <a:solidFill>
              <a:srgbClr val="FDAB2E"/>
            </a:solidFill>
            <a:prstDash val="solid"/>
            <a:round/>
            <a:headEnd len="sm" w="sm" type="none"/>
            <a:tailEnd len="sm" w="sm" type="none"/>
          </a:ln>
        </p:spPr>
      </p:cxnSp>
      <p:cxnSp>
        <p:nvCxnSpPr>
          <p:cNvPr id="135" name="Google Shape;135;p4"/>
          <p:cNvCxnSpPr>
            <a:endCxn id="128" idx="2"/>
          </p:cNvCxnSpPr>
          <p:nvPr/>
        </p:nvCxnSpPr>
        <p:spPr>
          <a:xfrm>
            <a:off x="6752562" y="3796077"/>
            <a:ext cx="874200" cy="0"/>
          </a:xfrm>
          <a:prstGeom prst="straightConnector1">
            <a:avLst/>
          </a:prstGeom>
          <a:noFill/>
          <a:ln cap="flat" cmpd="sng" w="9525">
            <a:solidFill>
              <a:srgbClr val="FDAB2E"/>
            </a:solidFill>
            <a:prstDash val="solid"/>
            <a:round/>
            <a:headEnd len="sm" w="sm" type="none"/>
            <a:tailEnd len="sm" w="sm" type="none"/>
          </a:ln>
        </p:spPr>
      </p:cxnSp>
      <p:sp>
        <p:nvSpPr>
          <p:cNvPr id="136" name="Google Shape;136;p4"/>
          <p:cNvSpPr txBox="1"/>
          <p:nvPr/>
        </p:nvSpPr>
        <p:spPr>
          <a:xfrm>
            <a:off x="1340550" y="648725"/>
            <a:ext cx="6462900" cy="84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0" i="0" lang="es" sz="3900" u="none" cap="none" strike="noStrike">
                <a:solidFill>
                  <a:srgbClr val="171717"/>
                </a:solidFill>
                <a:latin typeface="Plus Jakarta Sans ExtraBold"/>
                <a:ea typeface="Plus Jakarta Sans ExtraBold"/>
                <a:cs typeface="Plus Jakarta Sans ExtraBold"/>
                <a:sym typeface="Plus Jakarta Sans ExtraBold"/>
              </a:rPr>
              <a:t>Completa con </a:t>
            </a:r>
            <a:r>
              <a:rPr b="0" i="0" lang="es" sz="3900" u="none" cap="none" strike="noStrike">
                <a:solidFill>
                  <a:srgbClr val="FF632B"/>
                </a:solidFill>
                <a:latin typeface="Plus Jakarta Sans ExtraBold"/>
                <a:ea typeface="Plus Jakarta Sans ExtraBold"/>
                <a:cs typeface="Plus Jakarta Sans ExtraBold"/>
                <a:sym typeface="Plus Jakarta Sans ExtraBold"/>
              </a:rPr>
              <a:t>éxito</a:t>
            </a:r>
            <a:endParaRPr b="0" i="0" sz="3900" u="none" cap="none" strike="noStrike">
              <a:solidFill>
                <a:srgbClr val="FF632B"/>
              </a:solidFill>
              <a:latin typeface="Plus Jakarta Sans ExtraBold"/>
              <a:ea typeface="Plus Jakarta Sans ExtraBold"/>
              <a:cs typeface="Plus Jakarta Sans ExtraBold"/>
              <a:sym typeface="Plus Jakarta Sans ExtraBold"/>
            </a:endParaRPr>
          </a:p>
          <a:p>
            <a:pPr indent="0" lvl="0" marL="0" marR="0" rtl="0" algn="ctr">
              <a:lnSpc>
                <a:spcPct val="100000"/>
              </a:lnSpc>
              <a:spcBef>
                <a:spcPts val="0"/>
              </a:spcBef>
              <a:spcAft>
                <a:spcPts val="0"/>
              </a:spcAft>
              <a:buClr>
                <a:srgbClr val="000000"/>
              </a:buClr>
              <a:buSzPts val="3900"/>
              <a:buFont typeface="Arial"/>
              <a:buNone/>
            </a:pPr>
            <a:r>
              <a:rPr b="0" i="0" lang="es" sz="3900" u="none" cap="none" strike="noStrike">
                <a:solidFill>
                  <a:srgbClr val="171717"/>
                </a:solidFill>
                <a:latin typeface="Plus Jakarta Sans ExtraBold"/>
                <a:ea typeface="Plus Jakarta Sans ExtraBold"/>
                <a:cs typeface="Plus Jakarta Sans ExtraBold"/>
                <a:sym typeface="Plus Jakarta Sans ExtraBold"/>
              </a:rPr>
              <a:t>el cronograma</a:t>
            </a:r>
            <a:endParaRPr b="0" i="0" sz="39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37" name="Google Shape;137;p4"/>
          <p:cNvSpPr txBox="1"/>
          <p:nvPr/>
        </p:nvSpPr>
        <p:spPr>
          <a:xfrm>
            <a:off x="2444250" y="4261225"/>
            <a:ext cx="42555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1" lang="es" sz="800" u="none" cap="none" strike="noStrike">
                <a:solidFill>
                  <a:srgbClr val="260700"/>
                </a:solidFill>
                <a:latin typeface="Plus Jakarta Sans"/>
                <a:ea typeface="Plus Jakarta Sans"/>
                <a:cs typeface="Plus Jakarta Sans"/>
                <a:sym typeface="Plus Jakarta Sans"/>
              </a:rPr>
              <a:t>(*) Recuerda que el primer requisito para finalizar con éxito es asistir a las clases.</a:t>
            </a:r>
            <a:endParaRPr b="0" i="1" sz="800" u="none" cap="none" strike="noStrike">
              <a:solidFill>
                <a:srgbClr val="260700"/>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43" name="Google Shape;143;p5"/>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Recap express del Módulo 1</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¿Flujo o Agente? · votación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Demo en vivo: Build-a-Minimal-Agent</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Break</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Desafío grupal: El Agente de Hierro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Checkpoint 1: tu pre-entrega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Q&amp;A y cierre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Objetivos de hoy</a:t>
            </a:r>
            <a:endParaRPr b="0" i="0" sz="2400" u="none" cap="none" strike="noStrike">
              <a:solidFill>
                <a:srgbClr val="260700"/>
              </a:solidFill>
              <a:latin typeface="Plus Jakarta Sans"/>
              <a:ea typeface="Plus Jakarta Sans"/>
              <a:cs typeface="Plus Jakarta Sans"/>
              <a:sym typeface="Plus Jakarta Sans"/>
            </a:endParaRPr>
          </a:p>
        </p:txBody>
      </p:sp>
      <p:sp>
        <p:nvSpPr>
          <p:cNvPr id="149" name="Google Shape;149;p6"/>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Plus Jakarta Sans"/>
                <a:ea typeface="Plus Jakarta Sans"/>
                <a:cs typeface="Plus Jakarta Sans"/>
                <a:sym typeface="Plus Jakarta Sans"/>
              </a:rPr>
              <a:t>Decidir con criterio cuándo un proceso necesita un flujo lineal y cuándo un agente autónomo.</a:t>
            </a:r>
            <a:endParaRPr b="0" i="0" sz="1400" u="none" cap="none" strike="noStrike">
              <a:solidFill>
                <a:srgbClr val="000000"/>
              </a:solidFill>
              <a:latin typeface="Plus Jakarta Sans"/>
              <a:ea typeface="Plus Jakarta Sans"/>
              <a:cs typeface="Plus Jakarta Sans"/>
              <a:sym typeface="Plus Jakarta Sans"/>
            </a:endParaRPr>
          </a:p>
        </p:txBody>
      </p:sp>
      <p:sp>
        <p:nvSpPr>
          <p:cNvPr id="150" name="Google Shape;150;p6"/>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Plus Jakarta Sans"/>
                <a:ea typeface="Plus Jakarta Sans"/>
                <a:cs typeface="Plus Jakarta Sans"/>
                <a:sym typeface="Plus Jakarta Sans"/>
              </a:rPr>
              <a:t>Interpretar el ciclo ReAct en el panel de ejecución de n8n.</a:t>
            </a:r>
            <a:endParaRPr b="0" i="0" sz="1400" u="none" cap="none" strike="noStrike">
              <a:solidFill>
                <a:srgbClr val="000000"/>
              </a:solidFill>
              <a:latin typeface="Plus Jakarta Sans"/>
              <a:ea typeface="Plus Jakarta Sans"/>
              <a:cs typeface="Plus Jakarta Sans"/>
              <a:sym typeface="Plus Jakarta Sans"/>
            </a:endParaRPr>
          </a:p>
        </p:txBody>
      </p:sp>
      <p:sp>
        <p:nvSpPr>
          <p:cNvPr id="151" name="Google Shape;151;p6"/>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Plus Jakarta Sans"/>
                <a:ea typeface="Plus Jakarta Sans"/>
                <a:cs typeface="Plus Jakarta Sans"/>
                <a:sym typeface="Plus Jakarta Sans"/>
              </a:rPr>
              <a:t>Blindar agentes con guardrails y descripciones de herramientas bien escritas.</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01</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57" name="Google Shape;157;p7"/>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Recap express del Módulo 1</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nvSpPr>
        <p:spPr>
          <a:xfrm>
            <a:off x="739075" y="286630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Regla de oro: mantené lo determinista, delegá lo ambiguo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163" name="Google Shape;163;p8"/>
          <p:cNvSpPr txBox="1"/>
          <p:nvPr/>
        </p:nvSpPr>
        <p:spPr>
          <a:xfrm>
            <a:off x="1415425" y="172750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¿Riel de tren o conductor de taxi?</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grpSp>
        <p:nvGrpSpPr>
          <p:cNvPr id="168" name="Google Shape;168;p9"/>
          <p:cNvGrpSpPr/>
          <p:nvPr/>
        </p:nvGrpSpPr>
        <p:grpSpPr>
          <a:xfrm>
            <a:off x="3045400" y="1358500"/>
            <a:ext cx="3053200" cy="185400"/>
            <a:chOff x="2850500" y="1311400"/>
            <a:chExt cx="3053200" cy="185400"/>
          </a:xfrm>
        </p:grpSpPr>
        <p:sp>
          <p:nvSpPr>
            <p:cNvPr id="169" name="Google Shape;169;p9"/>
            <p:cNvSpPr/>
            <p:nvPr/>
          </p:nvSpPr>
          <p:spPr>
            <a:xfrm>
              <a:off x="2850500" y="1311400"/>
              <a:ext cx="989400" cy="185400"/>
            </a:xfrm>
            <a:prstGeom prst="roundRect">
              <a:avLst>
                <a:gd fmla="val 50000" name="adj"/>
              </a:avLst>
            </a:prstGeom>
            <a:solidFill>
              <a:srgbClr val="17171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s" sz="800" u="none" cap="none" strike="noStrike">
                  <a:solidFill>
                    <a:srgbClr val="F8F2E8"/>
                  </a:solidFill>
                  <a:latin typeface="Plus Jakarta Sans Light"/>
                  <a:ea typeface="Plus Jakarta Sans Light"/>
                  <a:cs typeface="Plus Jakarta Sans Light"/>
                  <a:sym typeface="Plus Jakarta Sans Light"/>
                </a:rPr>
                <a:t>PASO 1</a:t>
              </a:r>
              <a:endParaRPr b="0" i="0" sz="800" u="none" cap="none" strike="noStrike">
                <a:solidFill>
                  <a:srgbClr val="F8F2E8"/>
                </a:solidFill>
                <a:latin typeface="Plus Jakarta Sans Light"/>
                <a:ea typeface="Plus Jakarta Sans Light"/>
                <a:cs typeface="Plus Jakarta Sans Light"/>
                <a:sym typeface="Plus Jakarta Sans Light"/>
              </a:endParaRPr>
            </a:p>
          </p:txBody>
        </p:sp>
        <p:sp>
          <p:nvSpPr>
            <p:cNvPr id="170" name="Google Shape;170;p9"/>
            <p:cNvSpPr/>
            <p:nvPr/>
          </p:nvSpPr>
          <p:spPr>
            <a:xfrm>
              <a:off x="3882400" y="1311400"/>
              <a:ext cx="989400" cy="185400"/>
            </a:xfrm>
            <a:prstGeom prst="roundRect">
              <a:avLst>
                <a:gd fmla="val 50000" name="adj"/>
              </a:avLst>
            </a:prstGeom>
            <a:solidFill>
              <a:srgbClr val="F8F2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s" sz="800" u="none" cap="none" strike="noStrike">
                  <a:solidFill>
                    <a:srgbClr val="171717"/>
                  </a:solidFill>
                  <a:latin typeface="Plus Jakarta Sans Light"/>
                  <a:ea typeface="Plus Jakarta Sans Light"/>
                  <a:cs typeface="Plus Jakarta Sans Light"/>
                  <a:sym typeface="Plus Jakarta Sans Light"/>
                </a:rPr>
                <a:t>PASO 2</a:t>
              </a:r>
              <a:endParaRPr b="0" i="0" sz="800" u="none" cap="none" strike="noStrike">
                <a:solidFill>
                  <a:srgbClr val="171717"/>
                </a:solidFill>
                <a:latin typeface="Plus Jakarta Sans Light"/>
                <a:ea typeface="Plus Jakarta Sans Light"/>
                <a:cs typeface="Plus Jakarta Sans Light"/>
                <a:sym typeface="Plus Jakarta Sans Light"/>
              </a:endParaRPr>
            </a:p>
          </p:txBody>
        </p:sp>
        <p:sp>
          <p:nvSpPr>
            <p:cNvPr id="171" name="Google Shape;171;p9"/>
            <p:cNvSpPr/>
            <p:nvPr/>
          </p:nvSpPr>
          <p:spPr>
            <a:xfrm>
              <a:off x="4914300" y="1311400"/>
              <a:ext cx="989400" cy="185400"/>
            </a:xfrm>
            <a:prstGeom prst="roundRect">
              <a:avLst>
                <a:gd fmla="val 50000" name="adj"/>
              </a:avLst>
            </a:prstGeom>
            <a:solidFill>
              <a:srgbClr val="F8F2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s" sz="800" u="none" cap="none" strike="noStrike">
                  <a:solidFill>
                    <a:srgbClr val="171717"/>
                  </a:solidFill>
                  <a:latin typeface="Plus Jakarta Sans Light"/>
                  <a:ea typeface="Plus Jakarta Sans Light"/>
                  <a:cs typeface="Plus Jakarta Sans Light"/>
                  <a:sym typeface="Plus Jakarta Sans Light"/>
                </a:rPr>
                <a:t>PASO 3</a:t>
              </a:r>
              <a:endParaRPr b="0" i="0" sz="800" u="none" cap="none" strike="noStrike">
                <a:solidFill>
                  <a:srgbClr val="171717"/>
                </a:solidFill>
                <a:latin typeface="Plus Jakarta Sans Light"/>
                <a:ea typeface="Plus Jakarta Sans Light"/>
                <a:cs typeface="Plus Jakarta Sans Light"/>
                <a:sym typeface="Plus Jakarta Sans Light"/>
              </a:endParaRPr>
            </a:p>
          </p:txBody>
        </p:sp>
      </p:grpSp>
      <p:sp>
        <p:nvSpPr>
          <p:cNvPr id="172" name="Google Shape;172;p9"/>
          <p:cNvSpPr txBox="1"/>
          <p:nvPr/>
        </p:nvSpPr>
        <p:spPr>
          <a:xfrm>
            <a:off x="1340550" y="656475"/>
            <a:ext cx="6462900" cy="84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El ciclo ReAct</a:t>
            </a:r>
            <a:endParaRPr b="0" i="0" sz="2800" u="none" cap="none" strike="noStrike">
              <a:solidFill>
                <a:srgbClr val="260700"/>
              </a:solidFill>
              <a:latin typeface="Plus Jakarta Sans"/>
              <a:ea typeface="Plus Jakarta Sans"/>
              <a:cs typeface="Plus Jakarta Sans"/>
              <a:sym typeface="Plus Jakarta Sans"/>
            </a:endParaRPr>
          </a:p>
        </p:txBody>
      </p:sp>
      <p:sp>
        <p:nvSpPr>
          <p:cNvPr id="173" name="Google Shape;173;p9"/>
          <p:cNvSpPr/>
          <p:nvPr/>
        </p:nvSpPr>
        <p:spPr>
          <a:xfrm>
            <a:off x="1228250" y="3510150"/>
            <a:ext cx="2104500" cy="738000"/>
          </a:xfrm>
          <a:prstGeom prst="round2SameRect">
            <a:avLst>
              <a:gd fmla="val 0" name="adj1"/>
              <a:gd fmla="val 34038" name="adj2"/>
            </a:avLst>
          </a:prstGeom>
          <a:solidFill>
            <a:srgbClr val="260700"/>
          </a:solidFill>
          <a:ln>
            <a:noFill/>
          </a:ln>
        </p:spPr>
        <p:txBody>
          <a:bodyPr anchorCtr="0" anchor="ctr" bIns="91425" lIns="91425" spcFirstLastPara="1" rIns="91425" wrap="square" tIns="91425">
            <a:noAutofit/>
          </a:bodyPr>
          <a:lstStyle/>
          <a:p>
            <a:pPr indent="0" lvl="0" marL="165216" marR="0" rtl="0" algn="l">
              <a:lnSpc>
                <a:spcPct val="100000"/>
              </a:lnSpc>
              <a:spcBef>
                <a:spcPts val="0"/>
              </a:spcBef>
              <a:spcAft>
                <a:spcPts val="0"/>
              </a:spcAft>
              <a:buClr>
                <a:srgbClr val="000000"/>
              </a:buClr>
              <a:buSzPts val="1300"/>
              <a:buFont typeface="Arial"/>
              <a:buNone/>
            </a:pPr>
            <a:r>
              <a:rPr b="1" i="0" lang="es" sz="1300" u="none" cap="none" strike="noStrike">
                <a:solidFill>
                  <a:srgbClr val="F8F2E8"/>
                </a:solidFill>
                <a:latin typeface="Plus Jakarta Sans"/>
                <a:ea typeface="Plus Jakarta Sans"/>
                <a:cs typeface="Plus Jakarta Sans"/>
                <a:sym typeface="Plus Jakarta Sans"/>
              </a:rPr>
              <a:t>Thought</a:t>
            </a:r>
            <a:endParaRPr b="1" i="0" sz="1300" u="none" cap="none" strike="noStrike">
              <a:solidFill>
                <a:srgbClr val="F8F2E8"/>
              </a:solidFill>
              <a:latin typeface="Plus Jakarta Sans"/>
              <a:ea typeface="Plus Jakarta Sans"/>
              <a:cs typeface="Plus Jakarta Sans"/>
              <a:sym typeface="Plus Jakarta Sans"/>
            </a:endParaRPr>
          </a:p>
          <a:p>
            <a:pPr indent="0" lvl="0" marL="165216" marR="0" rtl="0" algn="l">
              <a:lnSpc>
                <a:spcPct val="100000"/>
              </a:lnSpc>
              <a:spcBef>
                <a:spcPts val="0"/>
              </a:spcBef>
              <a:spcAft>
                <a:spcPts val="0"/>
              </a:spcAft>
              <a:buClr>
                <a:schemeClr val="dk1"/>
              </a:buClr>
              <a:buSzPts val="1100"/>
              <a:buFont typeface="Arial"/>
              <a:buNone/>
            </a:pPr>
            <a:r>
              <a:rPr b="0" i="0" lang="es" sz="800" u="none" cap="none" strike="noStrike">
                <a:solidFill>
                  <a:srgbClr val="F8F2E8"/>
                </a:solidFill>
                <a:latin typeface="Plus Jakarta Sans"/>
                <a:ea typeface="Plus Jakarta Sans"/>
                <a:cs typeface="Plus Jakarta Sans"/>
                <a:sym typeface="Plus Jakarta Sans"/>
              </a:rPr>
              <a:t>El modelo analiza el input y decide qué necesita hacer.</a:t>
            </a:r>
            <a:endParaRPr b="0" i="0" sz="1400" u="none" cap="none" strike="noStrike">
              <a:solidFill>
                <a:schemeClr val="lt1"/>
              </a:solidFill>
              <a:latin typeface="Arial"/>
              <a:ea typeface="Arial"/>
              <a:cs typeface="Arial"/>
              <a:sym typeface="Arial"/>
            </a:endParaRPr>
          </a:p>
        </p:txBody>
      </p:sp>
      <p:sp>
        <p:nvSpPr>
          <p:cNvPr id="174" name="Google Shape;174;p9"/>
          <p:cNvSpPr/>
          <p:nvPr/>
        </p:nvSpPr>
        <p:spPr>
          <a:xfrm>
            <a:off x="3517713" y="3510150"/>
            <a:ext cx="2104500" cy="738000"/>
          </a:xfrm>
          <a:prstGeom prst="round2SameRect">
            <a:avLst>
              <a:gd fmla="val 0" name="adj1"/>
              <a:gd fmla="val 34038" name="adj2"/>
            </a:avLst>
          </a:prstGeom>
          <a:solidFill>
            <a:srgbClr val="260700"/>
          </a:solidFill>
          <a:ln>
            <a:noFill/>
          </a:ln>
        </p:spPr>
        <p:txBody>
          <a:bodyPr anchorCtr="0" anchor="ctr" bIns="91425" lIns="91425" spcFirstLastPara="1" rIns="91425" wrap="square" tIns="91425">
            <a:noAutofit/>
          </a:bodyPr>
          <a:lstStyle/>
          <a:p>
            <a:pPr indent="0" lvl="0" marL="165216" marR="0" rtl="0" algn="l">
              <a:lnSpc>
                <a:spcPct val="100000"/>
              </a:lnSpc>
              <a:spcBef>
                <a:spcPts val="0"/>
              </a:spcBef>
              <a:spcAft>
                <a:spcPts val="0"/>
              </a:spcAft>
              <a:buClr>
                <a:schemeClr val="dk1"/>
              </a:buClr>
              <a:buSzPts val="1100"/>
              <a:buFont typeface="Arial"/>
              <a:buNone/>
            </a:pPr>
            <a:r>
              <a:rPr b="1" i="0" lang="es" sz="1300" u="none" cap="none" strike="noStrike">
                <a:solidFill>
                  <a:srgbClr val="F8F2E8"/>
                </a:solidFill>
                <a:latin typeface="Plus Jakarta Sans"/>
                <a:ea typeface="Plus Jakarta Sans"/>
                <a:cs typeface="Plus Jakarta Sans"/>
                <a:sym typeface="Plus Jakarta Sans"/>
              </a:rPr>
              <a:t>Action</a:t>
            </a:r>
            <a:endParaRPr b="1" i="0" sz="1300" u="none" cap="none" strike="noStrike">
              <a:solidFill>
                <a:srgbClr val="F8F2E8"/>
              </a:solidFill>
              <a:latin typeface="Plus Jakarta Sans"/>
              <a:ea typeface="Plus Jakarta Sans"/>
              <a:cs typeface="Plus Jakarta Sans"/>
              <a:sym typeface="Plus Jakarta Sans"/>
            </a:endParaRPr>
          </a:p>
          <a:p>
            <a:pPr indent="0" lvl="0" marL="165216" marR="0" rtl="0" algn="l">
              <a:lnSpc>
                <a:spcPct val="100000"/>
              </a:lnSpc>
              <a:spcBef>
                <a:spcPts val="0"/>
              </a:spcBef>
              <a:spcAft>
                <a:spcPts val="0"/>
              </a:spcAft>
              <a:buClr>
                <a:schemeClr val="dk1"/>
              </a:buClr>
              <a:buSzPts val="1100"/>
              <a:buFont typeface="Arial"/>
              <a:buNone/>
            </a:pPr>
            <a:r>
              <a:rPr b="0" i="0" lang="es" sz="800" u="none" cap="none" strike="noStrike">
                <a:solidFill>
                  <a:srgbClr val="F8F2E8"/>
                </a:solidFill>
                <a:latin typeface="Plus Jakarta Sans"/>
                <a:ea typeface="Plus Jakarta Sans"/>
                <a:cs typeface="Plus Jakarta Sans"/>
                <a:sym typeface="Plus Jakarta Sans"/>
              </a:rPr>
              <a:t>Elige una de sus herramientas de n8n y la ejecuta.</a:t>
            </a:r>
            <a:endParaRPr b="0" i="0" sz="800" u="none" cap="none" strike="noStrike">
              <a:solidFill>
                <a:srgbClr val="F8F2E8"/>
              </a:solidFill>
              <a:latin typeface="Plus Jakarta Sans"/>
              <a:ea typeface="Plus Jakarta Sans"/>
              <a:cs typeface="Plus Jakarta Sans"/>
              <a:sym typeface="Plus Jakarta Sans"/>
            </a:endParaRPr>
          </a:p>
        </p:txBody>
      </p:sp>
      <p:sp>
        <p:nvSpPr>
          <p:cNvPr id="175" name="Google Shape;175;p9"/>
          <p:cNvSpPr/>
          <p:nvPr/>
        </p:nvSpPr>
        <p:spPr>
          <a:xfrm>
            <a:off x="5807200" y="3510150"/>
            <a:ext cx="2104500" cy="738000"/>
          </a:xfrm>
          <a:prstGeom prst="round2SameRect">
            <a:avLst>
              <a:gd fmla="val 0" name="adj1"/>
              <a:gd fmla="val 34038" name="adj2"/>
            </a:avLst>
          </a:prstGeom>
          <a:solidFill>
            <a:srgbClr val="260700"/>
          </a:solidFill>
          <a:ln>
            <a:noFill/>
          </a:ln>
        </p:spPr>
        <p:txBody>
          <a:bodyPr anchorCtr="0" anchor="ctr" bIns="91425" lIns="91425" spcFirstLastPara="1" rIns="91425" wrap="square" tIns="91425">
            <a:noAutofit/>
          </a:bodyPr>
          <a:lstStyle/>
          <a:p>
            <a:pPr indent="0" lvl="0" marL="165216" marR="0" rtl="0" algn="l">
              <a:lnSpc>
                <a:spcPct val="100000"/>
              </a:lnSpc>
              <a:spcBef>
                <a:spcPts val="0"/>
              </a:spcBef>
              <a:spcAft>
                <a:spcPts val="0"/>
              </a:spcAft>
              <a:buClr>
                <a:schemeClr val="dk1"/>
              </a:buClr>
              <a:buSzPts val="1100"/>
              <a:buFont typeface="Arial"/>
              <a:buNone/>
            </a:pPr>
            <a:r>
              <a:rPr b="1" i="0" lang="es" sz="1300" u="none" cap="none" strike="noStrike">
                <a:solidFill>
                  <a:srgbClr val="F8F2E8"/>
                </a:solidFill>
                <a:latin typeface="Plus Jakarta Sans"/>
                <a:ea typeface="Plus Jakarta Sans"/>
                <a:cs typeface="Plus Jakarta Sans"/>
                <a:sym typeface="Plus Jakarta Sans"/>
              </a:rPr>
              <a:t>Observation</a:t>
            </a:r>
            <a:endParaRPr b="1" i="0" sz="1300" u="none" cap="none" strike="noStrike">
              <a:solidFill>
                <a:srgbClr val="F8F2E8"/>
              </a:solidFill>
              <a:latin typeface="Plus Jakarta Sans"/>
              <a:ea typeface="Plus Jakarta Sans"/>
              <a:cs typeface="Plus Jakarta Sans"/>
              <a:sym typeface="Plus Jakarta Sans"/>
            </a:endParaRPr>
          </a:p>
          <a:p>
            <a:pPr indent="0" lvl="0" marL="165216" marR="0" rtl="0" algn="l">
              <a:lnSpc>
                <a:spcPct val="100000"/>
              </a:lnSpc>
              <a:spcBef>
                <a:spcPts val="0"/>
              </a:spcBef>
              <a:spcAft>
                <a:spcPts val="0"/>
              </a:spcAft>
              <a:buClr>
                <a:srgbClr val="000000"/>
              </a:buClr>
              <a:buSzPts val="800"/>
              <a:buFont typeface="Arial"/>
              <a:buNone/>
            </a:pPr>
            <a:r>
              <a:rPr b="0" i="0" lang="es" sz="800" u="none" cap="none" strike="noStrike">
                <a:solidFill>
                  <a:srgbClr val="F8F2E8"/>
                </a:solidFill>
                <a:latin typeface="Plus Jakarta Sans"/>
                <a:ea typeface="Plus Jakarta Sans"/>
                <a:cs typeface="Plus Jakarta Sans"/>
                <a:sym typeface="Plus Jakarta Sans"/>
              </a:rPr>
              <a:t>Lee el resultado y repite el ciclo hasta cumplir el objetivo.</a:t>
            </a:r>
            <a:endParaRPr b="0" i="0" sz="8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Tools</a:t>
            </a:r>
            <a:endParaRPr b="0" i="0" sz="1200" u="none" cap="none" strike="noStrike">
              <a:solidFill>
                <a:srgbClr val="FAFAFA"/>
              </a:solidFill>
              <a:latin typeface="Plus Jakarta Sans"/>
              <a:ea typeface="Plus Jakarta Sans"/>
              <a:cs typeface="Plus Jakarta Sans"/>
              <a:sym typeface="Plus Jakarta Sans"/>
            </a:endParaRPr>
          </a:p>
        </p:txBody>
      </p:sp>
      <p:sp>
        <p:nvSpPr>
          <p:cNvPr id="181" name="Google Shape;181;p10"/>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AI Agent Node</a:t>
            </a:r>
            <a:endParaRPr b="1" i="0" sz="2000" u="none" cap="none" strike="noStrike">
              <a:solidFill>
                <a:srgbClr val="260700"/>
              </a:solidFill>
              <a:latin typeface="Plus Jakarta Sans"/>
              <a:ea typeface="Plus Jakarta Sans"/>
              <a:cs typeface="Plus Jakarta Sans"/>
              <a:sym typeface="Plus Jakarta Sans"/>
            </a:endParaRPr>
          </a:p>
        </p:txBody>
      </p:sp>
      <p:sp>
        <p:nvSpPr>
          <p:cNvPr id="182" name="Google Shape;182;p10"/>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Sheets · Gmail</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83" name="Google Shape;183;p10"/>
          <p:cNvCxnSpPr>
            <a:stCxn id="180" idx="2"/>
            <a:endCxn id="182"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184" name="Google Shape;184;p10"/>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Chat Model</a:t>
            </a:r>
            <a:endParaRPr b="0" i="0" sz="1200" u="none" cap="none" strike="noStrike">
              <a:solidFill>
                <a:srgbClr val="FAFAFA"/>
              </a:solidFill>
              <a:latin typeface="Plus Jakarta Sans"/>
              <a:ea typeface="Plus Jakarta Sans"/>
              <a:cs typeface="Plus Jakarta Sans"/>
              <a:sym typeface="Plus Jakarta Sans"/>
            </a:endParaRPr>
          </a:p>
        </p:txBody>
      </p:sp>
      <p:sp>
        <p:nvSpPr>
          <p:cNvPr id="185" name="Google Shape;185;p10"/>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GPT-5.4 mini</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86" name="Google Shape;186;p10"/>
          <p:cNvCxnSpPr>
            <a:stCxn id="184" idx="2"/>
            <a:endCxn id="185"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187" name="Google Shape;187;p10"/>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Execution Log</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88" name="Google Shape;188;p10"/>
          <p:cNvCxnSpPr>
            <a:stCxn id="187" idx="0"/>
            <a:endCxn id="181"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189" name="Google Shape;189;p10"/>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Memory</a:t>
            </a:r>
            <a:endParaRPr b="0" i="0" sz="1200" u="none" cap="none" strike="noStrike">
              <a:solidFill>
                <a:srgbClr val="FAFAFA"/>
              </a:solidFill>
              <a:latin typeface="Plus Jakarta Sans"/>
              <a:ea typeface="Plus Jakarta Sans"/>
              <a:cs typeface="Plus Jakarta Sans"/>
              <a:sym typeface="Plus Jakarta Sans"/>
            </a:endParaRPr>
          </a:p>
        </p:txBody>
      </p:sp>
      <p:sp>
        <p:nvSpPr>
          <p:cNvPr id="190" name="Google Shape;190;p10"/>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System Message</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91" name="Google Shape;191;p10"/>
          <p:cNvCxnSpPr>
            <a:stCxn id="189" idx="3"/>
            <a:endCxn id="181"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192" name="Google Shape;192;p10"/>
          <p:cNvCxnSpPr>
            <a:stCxn id="190" idx="1"/>
            <a:endCxn id="181"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193" name="Google Shape;193;p10"/>
          <p:cNvCxnSpPr>
            <a:stCxn id="184" idx="0"/>
            <a:endCxn id="181"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194" name="Google Shape;194;p10"/>
          <p:cNvCxnSpPr>
            <a:stCxn id="181" idx="3"/>
            <a:endCxn id="180"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195" name="Google Shape;195;p10"/>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Guardrails</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96" name="Google Shape;196;p10"/>
          <p:cNvCxnSpPr>
            <a:stCxn id="181" idx="0"/>
            <a:endCxn id="195"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nvSpPr>
        <p:spPr>
          <a:xfrm>
            <a:off x="602400" y="659600"/>
            <a:ext cx="5074500" cy="18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System Prompt: la constitución del agente</a:t>
            </a:r>
            <a:endParaRPr b="0" i="0" sz="2400" u="none" cap="none" strike="noStrike">
              <a:solidFill>
                <a:srgbClr val="260700"/>
              </a:solidFill>
              <a:latin typeface="Plus Jakarta Sans"/>
              <a:ea typeface="Plus Jakarta Sans"/>
              <a:cs typeface="Plus Jakarta Sans"/>
              <a:sym typeface="Plus Jakarta Sans"/>
            </a:endParaRPr>
          </a:p>
        </p:txBody>
      </p:sp>
      <p:sp>
        <p:nvSpPr>
          <p:cNvPr id="202" name="Google Shape;202;p11"/>
          <p:cNvSpPr/>
          <p:nvPr/>
        </p:nvSpPr>
        <p:spPr>
          <a:xfrm>
            <a:off x="667475" y="153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Plus Jakarta Sans"/>
                <a:ea typeface="Plus Jakarta Sans"/>
                <a:cs typeface="Plus Jakarta Sans"/>
                <a:sym typeface="Plus Jakarta Sans"/>
              </a:rPr>
              <a:t>Rol y Ámbito: quién es el agente y qué NO tiene permitido hacer.</a:t>
            </a:r>
            <a:endParaRPr b="0" i="0" sz="1400" u="none" cap="none" strike="noStrike">
              <a:solidFill>
                <a:srgbClr val="000000"/>
              </a:solidFill>
              <a:latin typeface="Plus Jakarta Sans"/>
              <a:ea typeface="Plus Jakarta Sans"/>
              <a:cs typeface="Plus Jakarta Sans"/>
              <a:sym typeface="Plus Jakarta Sans"/>
            </a:endParaRPr>
          </a:p>
        </p:txBody>
      </p:sp>
      <p:sp>
        <p:nvSpPr>
          <p:cNvPr id="203" name="Google Shape;203;p11"/>
          <p:cNvSpPr/>
          <p:nvPr/>
        </p:nvSpPr>
        <p:spPr>
          <a:xfrm>
            <a:off x="4855270" y="153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Plus Jakarta Sans"/>
                <a:ea typeface="Plus Jakarta Sans"/>
                <a:cs typeface="Plus Jakarta Sans"/>
                <a:sym typeface="Plus Jakarta Sans"/>
              </a:rPr>
              <a:t>Objetivo y Reglas: qué resultado busca y cómo debe usar cada herramienta.</a:t>
            </a:r>
            <a:endParaRPr b="0" i="0" sz="1400" u="none" cap="none" strike="noStrike">
              <a:solidFill>
                <a:srgbClr val="000000"/>
              </a:solidFill>
              <a:latin typeface="Plus Jakarta Sans"/>
              <a:ea typeface="Plus Jakarta Sans"/>
              <a:cs typeface="Plus Jakarta Sans"/>
              <a:sym typeface="Plus Jakarta Sans"/>
            </a:endParaRPr>
          </a:p>
        </p:txBody>
      </p:sp>
      <p:sp>
        <p:nvSpPr>
          <p:cNvPr id="204" name="Google Shape;204;p11"/>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Plus Jakarta Sans"/>
                <a:ea typeface="Plus Jakarta Sans"/>
                <a:cs typeface="Plus Jakarta Sans"/>
                <a:sym typeface="Plus Jakarta Sans"/>
              </a:rPr>
              <a:t>Escalamiento: cuándo frena su ciclo y transfiere el caso a un humano.</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Un agente sin guardrails es un riesgo operativo y financiero</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210" name="Google Shape;210;p12"/>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0000"/>
              </a:lnSpc>
              <a:spcBef>
                <a:spcPts val="0"/>
              </a:spcBef>
              <a:spcAft>
                <a:spcPts val="0"/>
              </a:spcAft>
              <a:buClr>
                <a:srgbClr val="000000"/>
              </a:buClr>
              <a:buSzPts val="1229"/>
              <a:buFont typeface="Arial"/>
              <a:buNone/>
            </a:pPr>
            <a:r>
              <a:rPr b="0" i="0" lang="es" sz="1229" u="none" cap="none" strike="noStrike">
                <a:solidFill>
                  <a:srgbClr val="F8F2E8"/>
                </a:solidFill>
                <a:latin typeface="Plus Jakarta Sans"/>
                <a:ea typeface="Plus Jakarta Sans"/>
                <a:cs typeface="Plus Jakarta Sans"/>
                <a:sym typeface="Plus Jakarta Sans"/>
              </a:rPr>
              <a:t>Max Iterations: entre 5 y 10 vueltas como máximo.</a:t>
            </a:r>
            <a:endParaRPr b="0" i="0" sz="1229" u="none" cap="none" strike="noStrike">
              <a:solidFill>
                <a:srgbClr val="F8F2E8"/>
              </a:solidFill>
              <a:latin typeface="Plus Jakarta Sans"/>
              <a:ea typeface="Plus Jakarta Sans"/>
              <a:cs typeface="Plus Jakarta Sans"/>
              <a:sym typeface="Plus Jakarta Sans"/>
            </a:endParaRPr>
          </a:p>
        </p:txBody>
      </p:sp>
      <p:sp>
        <p:nvSpPr>
          <p:cNvPr id="211" name="Google Shape;211;p12"/>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0000"/>
              </a:lnSpc>
              <a:spcBef>
                <a:spcPts val="0"/>
              </a:spcBef>
              <a:spcAft>
                <a:spcPts val="0"/>
              </a:spcAft>
              <a:buClr>
                <a:srgbClr val="000000"/>
              </a:buClr>
              <a:buSzPts val="1229"/>
              <a:buFont typeface="Arial"/>
              <a:buNone/>
            </a:pPr>
            <a:r>
              <a:rPr b="0" i="0" lang="es" sz="1229" u="none" cap="none" strike="noStrike">
                <a:solidFill>
                  <a:srgbClr val="F8F2E8"/>
                </a:solidFill>
                <a:latin typeface="Plus Jakarta Sans"/>
                <a:ea typeface="Plus Jakarta Sans"/>
                <a:cs typeface="Plus Jakarta Sans"/>
                <a:sym typeface="Plus Jakarta Sans"/>
              </a:rPr>
              <a:t>Mínimo privilegio: tools acotadas, nunca la base completa.</a:t>
            </a:r>
            <a:endParaRPr b="0" i="0" sz="1229" u="none" cap="none" strike="noStrike">
              <a:solidFill>
                <a:srgbClr val="F8F2E8"/>
              </a:solidFill>
              <a:latin typeface="Plus Jakarta Sans"/>
              <a:ea typeface="Plus Jakarta Sans"/>
              <a:cs typeface="Plus Jakarta Sans"/>
              <a:sym typeface="Plus Jakarta Sans"/>
            </a:endParaRPr>
          </a:p>
        </p:txBody>
      </p:sp>
      <p:sp>
        <p:nvSpPr>
          <p:cNvPr id="212" name="Google Shape;212;p12"/>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0000"/>
              </a:lnSpc>
              <a:spcBef>
                <a:spcPts val="0"/>
              </a:spcBef>
              <a:spcAft>
                <a:spcPts val="0"/>
              </a:spcAft>
              <a:buClr>
                <a:srgbClr val="000000"/>
              </a:buClr>
              <a:buSzPts val="1229"/>
              <a:buFont typeface="Arial"/>
              <a:buNone/>
            </a:pPr>
            <a:r>
              <a:rPr b="0" i="0" lang="es" sz="1229" u="none" cap="none" strike="noStrike">
                <a:solidFill>
                  <a:srgbClr val="F8F2E8"/>
                </a:solidFill>
                <a:latin typeface="Plus Jakarta Sans"/>
                <a:ea typeface="Plus Jakarta Sans"/>
                <a:cs typeface="Plus Jakarta Sans"/>
                <a:sym typeface="Plus Jakarta Sans"/>
              </a:rPr>
              <a:t>Human-in-the-loop: lo crítico siempre lo aprueba una persona.</a:t>
            </a:r>
            <a:endParaRPr b="0" i="0" sz="1229"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18" name="Google Shape;218;p1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Actividad 1 · ¿Flujo o Agente? · 15 min</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1 · Al recibir un formulario de Typeform, guardar la fila en Sheets y avisar por Slack.</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2 · Leer cada mail de soporte, entender la intención y decidir si responder o escalar.</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3 · Todos los lunes a las 9, enviar el reporte semanal de ventas por mail.</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4 · Investigar un lead nuevo y decidir si amerita agendar una reunión.</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5 · Si una factura no coincide con el contrato, averiguar por qué y proponer una acción.</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6 · Cuando un pago falla 3 veces, suspender la cuenta y notificar al cliente.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224" name="Google Shape;224;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¿Flujo o Agente?</a:t>
            </a:r>
            <a:endParaRPr b="0" i="0" sz="4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25" name="Google Shape;225;p1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Votá: ¿automatización lineal o agente autónomo?</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5"/>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03</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31" name="Google Shape;231;p15"/>
          <p:cNvSpPr txBox="1"/>
          <p:nvPr/>
        </p:nvSpPr>
        <p:spPr>
          <a:xfrm>
            <a:off x="573600" y="2481014"/>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Demo en vivo · Build-a-Minimal-Agent · 30 min</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AI Agent en modo Tools Agent, con GPT-5.4 mini como Chat Model.</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Simple Memory para mantener el hilo de la conversación.</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Google Sheets como tool: buscar si el lead ya existe y registrarlo.</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Gmail como log de observabilidad: reporte de cada tarea completada.</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Lo vamos a romper a propósito… y a arreglar leyendo el Execution Log.</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237" name="Google Shape;237;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La demo de hoy</a:t>
            </a:r>
            <a:endParaRPr b="0" i="0" sz="4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8" name="Google Shape;238;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Un agente de triage de leads: Chat Trigger → AI Agent → log en Gmail</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44" name="Google Shape;244;p17" title="Vector.png"/>
          <p:cNvPicPr preferRelativeResize="0"/>
          <p:nvPr/>
        </p:nvPicPr>
        <p:blipFill rotWithShape="1">
          <a:blip r:embed="rId3">
            <a:alphaModFix/>
          </a:blip>
          <a:srcRect b="0" l="30" r="40" t="0"/>
          <a:stretch/>
        </p:blipFill>
        <p:spPr>
          <a:xfrm>
            <a:off x="7520578" y="2347936"/>
            <a:ext cx="524575" cy="447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8"/>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50" name="Google Shape;250;p18"/>
          <p:cNvSpPr txBox="1"/>
          <p:nvPr/>
        </p:nvSpPr>
        <p:spPr>
          <a:xfrm>
            <a:off x="641650" y="2571750"/>
            <a:ext cx="6462900" cy="160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Desafío grupal · El Agente de Hierro · 25 min</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Caso: aprobación de facturas con discrepancias.</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En equipos (breakout rooms), dibujen el flujo lógico completo.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Debe incluir: 1 tool de lectura · 1 validación lógica · 1 aprobación humana (HITL) · 1 condición de parada por intentos.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Entregable: foto o captura del diagrama para la puesta en común.</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256" name="Google Shape;256;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El Agente de Hierro</a:t>
            </a:r>
            <a:endParaRPr b="0" i="0" sz="4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57" name="Google Shape;257;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Diseñá la arquitectura en papel</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nvSpPr>
        <p:spPr>
          <a:xfrm>
            <a:off x="2832560" y="0"/>
            <a:ext cx="60000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5400"/>
              <a:buFont typeface="Arial"/>
              <a:buNone/>
            </a:pPr>
            <a:r>
              <a:rPr b="0" i="0" lang="es" sz="5400" u="none" cap="none" strike="noStrike">
                <a:solidFill>
                  <a:srgbClr val="FF632B"/>
                </a:solidFill>
                <a:latin typeface="Plus Jakarta Sans ExtraBold"/>
                <a:ea typeface="Plus Jakarta Sans ExtraBold"/>
                <a:cs typeface="Plus Jakarta Sans ExtraBold"/>
                <a:sym typeface="Plus Jakarta Sans ExtraBold"/>
              </a:rPr>
              <a:t>Checkpoint 1</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63" name="Google Shape;263;p20"/>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Trigger: Chat Trigger o Webhook</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AI Agent en modo Tools Agent</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Chat Model nativo (GPT-5.4 mini)</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Guardrail: 5 a 10 iteraciones máx.</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System Prompt modular</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1 tool nativa bien descripta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Log final por Gmail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Observabilidad y log externo de finalización — 35%.</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Arquitectura de interfaces no-code (tools laterales, nunca secuenciales) — 30%.</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Guardrails financieros y auditoría — 35%.</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Aprobás con 70/100.</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Antes de exportar: Execute Workflow y panel de ejecución en verde.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269" name="Google Shape;269;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Entrega y rúbrica</a:t>
            </a:r>
            <a:endParaRPr b="0" i="0" sz="4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70" name="Google Shape;270;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checkpoint1_nombre_apellido.json → link de GitHub</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2"/>
          <p:cNvSpPr txBox="1"/>
          <p:nvPr/>
        </p:nvSpPr>
        <p:spPr>
          <a:xfrm>
            <a:off x="739075" y="286630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Es el momento de romper el silencio de Zoom</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276" name="Google Shape;276;p22"/>
          <p:cNvSpPr txBox="1"/>
          <p:nvPr/>
        </p:nvSpPr>
        <p:spPr>
          <a:xfrm>
            <a:off x="1415425" y="172750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3"/>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Un flujo sigue el camino; un agente lo decide</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282" name="Google Shape;282;p23"/>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0000"/>
              </a:lnSpc>
              <a:spcBef>
                <a:spcPts val="0"/>
              </a:spcBef>
              <a:spcAft>
                <a:spcPts val="0"/>
              </a:spcAft>
              <a:buClr>
                <a:srgbClr val="000000"/>
              </a:buClr>
              <a:buSzPts val="1229"/>
              <a:buFont typeface="Arial"/>
              <a:buNone/>
            </a:pPr>
            <a:r>
              <a:rPr b="0" i="0" lang="es" sz="1229" u="none" cap="none" strike="noStrike">
                <a:solidFill>
                  <a:srgbClr val="F8F2E8"/>
                </a:solidFill>
                <a:latin typeface="Plus Jakarta Sans"/>
                <a:ea typeface="Plus Jakarta Sans"/>
                <a:cs typeface="Plus Jakarta Sans"/>
                <a:sym typeface="Plus Jakarta Sans"/>
              </a:rPr>
              <a:t>Agente ≠ nodo que llama a un LLM: razona, actúa y observa.</a:t>
            </a:r>
            <a:endParaRPr b="0" i="0" sz="1229" u="none" cap="none" strike="noStrike">
              <a:solidFill>
                <a:srgbClr val="F8F2E8"/>
              </a:solidFill>
              <a:latin typeface="Plus Jakarta Sans"/>
              <a:ea typeface="Plus Jakarta Sans"/>
              <a:cs typeface="Plus Jakarta Sans"/>
              <a:sym typeface="Plus Jakarta Sans"/>
            </a:endParaRPr>
          </a:p>
        </p:txBody>
      </p:sp>
      <p:sp>
        <p:nvSpPr>
          <p:cNvPr id="283" name="Google Shape;283;p23"/>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0000"/>
              </a:lnSpc>
              <a:spcBef>
                <a:spcPts val="0"/>
              </a:spcBef>
              <a:spcAft>
                <a:spcPts val="0"/>
              </a:spcAft>
              <a:buClr>
                <a:srgbClr val="000000"/>
              </a:buClr>
              <a:buSzPts val="1229"/>
              <a:buFont typeface="Arial"/>
              <a:buNone/>
            </a:pPr>
            <a:r>
              <a:rPr b="0" i="0" lang="es" sz="1229" u="none" cap="none" strike="noStrike">
                <a:solidFill>
                  <a:srgbClr val="F8F2E8"/>
                </a:solidFill>
                <a:latin typeface="Plus Jakarta Sans"/>
                <a:ea typeface="Plus Jakarta Sans"/>
                <a:cs typeface="Plus Jakarta Sans"/>
                <a:sym typeface="Plus Jakarta Sans"/>
              </a:rPr>
              <a:t>La tool vale lo que vale su descripción.</a:t>
            </a:r>
            <a:endParaRPr b="0" i="0" sz="1229" u="none" cap="none" strike="noStrike">
              <a:solidFill>
                <a:srgbClr val="F8F2E8"/>
              </a:solidFill>
              <a:latin typeface="Plus Jakarta Sans"/>
              <a:ea typeface="Plus Jakarta Sans"/>
              <a:cs typeface="Plus Jakarta Sans"/>
              <a:sym typeface="Plus Jakarta Sans"/>
            </a:endParaRPr>
          </a:p>
        </p:txBody>
      </p:sp>
      <p:sp>
        <p:nvSpPr>
          <p:cNvPr id="284" name="Google Shape;284;p23"/>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0000"/>
              </a:lnSpc>
              <a:spcBef>
                <a:spcPts val="0"/>
              </a:spcBef>
              <a:spcAft>
                <a:spcPts val="0"/>
              </a:spcAft>
              <a:buClr>
                <a:srgbClr val="000000"/>
              </a:buClr>
              <a:buSzPts val="1229"/>
              <a:buFont typeface="Arial"/>
              <a:buNone/>
            </a:pPr>
            <a:r>
              <a:rPr b="0" i="0" lang="es" sz="1229" u="none" cap="none" strike="noStrike">
                <a:solidFill>
                  <a:srgbClr val="F8F2E8"/>
                </a:solidFill>
                <a:latin typeface="Plus Jakarta Sans"/>
                <a:ea typeface="Plus Jakarta Sans"/>
                <a:cs typeface="Plus Jakarta Sans"/>
                <a:sym typeface="Plus Jakarta Sans"/>
              </a:rPr>
              <a:t>Sin guardrails no hay agente en producción.</a:t>
            </a:r>
            <a:endParaRPr b="0" i="0" sz="1229"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Próximos pasos</a:t>
            </a:r>
            <a:endParaRPr b="0" i="0" sz="2400" u="none" cap="none" strike="noStrike">
              <a:solidFill>
                <a:srgbClr val="260700"/>
              </a:solidFill>
              <a:latin typeface="Plus Jakarta Sans"/>
              <a:ea typeface="Plus Jakarta Sans"/>
              <a:cs typeface="Plus Jakarta Sans"/>
              <a:sym typeface="Plus Jakarta Sans"/>
            </a:endParaRPr>
          </a:p>
        </p:txBody>
      </p:sp>
      <p:sp>
        <p:nvSpPr>
          <p:cNvPr id="290" name="Google Shape;290;p24"/>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Plus Jakarta Sans"/>
                <a:ea typeface="Plus Jakarta Sans"/>
                <a:cs typeface="Plus Jakarta Sans"/>
                <a:sym typeface="Plus Jakarta Sans"/>
              </a:rPr>
              <a:t>Escuchá el podcast de cierre del Módulo 1.</a:t>
            </a:r>
            <a:endParaRPr b="0" i="0" sz="1400" u="none" cap="none" strike="noStrike">
              <a:solidFill>
                <a:srgbClr val="000000"/>
              </a:solidFill>
              <a:latin typeface="Plus Jakarta Sans"/>
              <a:ea typeface="Plus Jakarta Sans"/>
              <a:cs typeface="Plus Jakarta Sans"/>
              <a:sym typeface="Plus Jakarta Sans"/>
            </a:endParaRPr>
          </a:p>
        </p:txBody>
      </p:sp>
      <p:sp>
        <p:nvSpPr>
          <p:cNvPr id="291" name="Google Shape;291;p24"/>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Plus Jakarta Sans"/>
                <a:ea typeface="Plus Jakarta Sans"/>
                <a:cs typeface="Plus Jakarta Sans"/>
                <a:sym typeface="Plus Jakarta Sans"/>
              </a:rPr>
              <a:t>Armá y subí tu Checkpoint 1 (JSON exportado + repo de GitHub).</a:t>
            </a:r>
            <a:endParaRPr b="0" i="0" sz="1400" u="none" cap="none" strike="noStrike">
              <a:solidFill>
                <a:srgbClr val="000000"/>
              </a:solidFill>
              <a:latin typeface="Plus Jakarta Sans"/>
              <a:ea typeface="Plus Jakarta Sans"/>
              <a:cs typeface="Plus Jakarta Sans"/>
              <a:sym typeface="Plus Jakarta Sans"/>
            </a:endParaRPr>
          </a:p>
        </p:txBody>
      </p:sp>
      <p:sp>
        <p:nvSpPr>
          <p:cNvPr id="292" name="Google Shape;292;p24"/>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Plus Jakarta Sans"/>
                <a:ea typeface="Plus Jakarta Sans"/>
                <a:cs typeface="Plus Jakarta Sans"/>
                <a:sym typeface="Plus Jakarta Sans"/>
              </a:rPr>
              <a:t>Arrancá las lecturas del Módulo 2: Arquitectura Multi-Agente.</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6100"/>
              <a:buFont typeface="Arial"/>
              <a:buNone/>
            </a:pPr>
            <a:r>
              <a:rPr b="0" i="0" lang="es" sz="6100" u="none" cap="none" strike="noStrike">
                <a:solidFill>
                  <a:srgbClr val="260700"/>
                </a:solidFill>
                <a:latin typeface="Plus Jakarta Sans ExtraBold"/>
                <a:ea typeface="Plus Jakarta Sans ExtraBold"/>
                <a:cs typeface="Plus Jakarta Sans ExtraBold"/>
                <a:sym typeface="Plus Jakarta Sans ExtraBold"/>
              </a:rPr>
              <a:t>¡Muchas</a:t>
            </a:r>
            <a:endParaRPr b="0" i="0" sz="61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6100"/>
              <a:buFont typeface="Arial"/>
              <a:buNone/>
            </a:pPr>
            <a:r>
              <a:rPr b="0" i="0" lang="es" sz="6100" u="none" cap="none" strike="noStrike">
                <a:solidFill>
                  <a:srgbClr val="260700"/>
                </a:solidFill>
                <a:latin typeface="Plus Jakarta Sans ExtraBold"/>
                <a:ea typeface="Plus Jakarta Sans ExtraBold"/>
                <a:cs typeface="Plus Jakarta Sans ExtraBold"/>
                <a:sym typeface="Plus Jakarta Sans ExtraBold"/>
              </a:rPr>
              <a:t>gracias!</a:t>
            </a:r>
            <a:endParaRPr b="0" i="0" sz="61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298" name="Google Shape;298;p25"/>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299" name="Google Shape;299;p25"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