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lus Jakarta Sans ExtraBold"/>
      <p:bold r:id="rId14"/>
      <p:boldItalic r:id="rId15"/>
    </p:embeddedFont>
    <p:embeddedFont>
      <p:font typeface="Plus Jakarta Sans"/>
      <p:regular r:id="rId16"/>
      <p:bold r:id="rId17"/>
      <p:italic r:id="rId18"/>
      <p:boldItalic r:id="rId19"/>
    </p:embeddedFont>
    <p:embeddedFont>
      <p:font typeface="Plus Jakarta Sans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4" roundtripDataSignature="AMtx7mhCkubQ1dbNQJbgZSONgktys9W+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Light-regular.fntdata"/><Relationship Id="rId11" Type="http://schemas.openxmlformats.org/officeDocument/2006/relationships/slide" Target="slides/slide6.xml"/><Relationship Id="rId22" Type="http://schemas.openxmlformats.org/officeDocument/2006/relationships/font" Target="fonts/PlusJakartaSansLight-italic.fntdata"/><Relationship Id="rId10" Type="http://schemas.openxmlformats.org/officeDocument/2006/relationships/slide" Target="slides/slide5.xml"/><Relationship Id="rId21" Type="http://schemas.openxmlformats.org/officeDocument/2006/relationships/font" Target="fonts/PlusJakartaSansLight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PlusJakartaSans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ExtraBold-boldItalic.fntdata"/><Relationship Id="rId14" Type="http://schemas.openxmlformats.org/officeDocument/2006/relationships/font" Target="fonts/PlusJakartaSansExtraBold-bold.fntdata"/><Relationship Id="rId17" Type="http://schemas.openxmlformats.org/officeDocument/2006/relationships/font" Target="fonts/PlusJakartaSans-bold.fntdata"/><Relationship Id="rId16" Type="http://schemas.openxmlformats.org/officeDocument/2006/relationships/font" Target="fonts/PlusJakarta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boldItalic.fntdata"/><Relationship Id="rId6" Type="http://schemas.openxmlformats.org/officeDocument/2006/relationships/slide" Target="slides/slide1.xml"/><Relationship Id="rId18" Type="http://schemas.openxmlformats.org/officeDocument/2006/relationships/font" Target="fonts/PlusJakarta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rón">
  <p:cSld name="BLANK_2_1">
    <p:bg>
      <p:bgPr>
        <a:solidFill>
          <a:srgbClr val="2607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">
  <p:cSld name="BLANK_3_1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1" title="27800720-6c2b-4e33-a6ed-849e08f57757.png"/>
          <p:cNvPicPr preferRelativeResize="0"/>
          <p:nvPr/>
        </p:nvPicPr>
        <p:blipFill rotWithShape="1">
          <a:blip r:embed="rId2">
            <a:alphaModFix/>
          </a:blip>
          <a:srcRect b="53400" l="0" r="0" t="15047"/>
          <a:stretch/>
        </p:blipFill>
        <p:spPr>
          <a:xfrm>
            <a:off x="-45875" y="-37100"/>
            <a:ext cx="9235751" cy="518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1"/>
          <p:cNvSpPr txBox="1"/>
          <p:nvPr/>
        </p:nvSpPr>
        <p:spPr>
          <a:xfrm>
            <a:off x="476125" y="165026"/>
            <a:ext cx="6444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Coderhouse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" name="Google Shape;14;p11"/>
          <p:cNvSpPr txBox="1"/>
          <p:nvPr/>
        </p:nvSpPr>
        <p:spPr>
          <a:xfrm>
            <a:off x="6923014" y="165026"/>
            <a:ext cx="11886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Internal  Presentation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" name="Google Shape;15;p11"/>
          <p:cNvSpPr txBox="1"/>
          <p:nvPr/>
        </p:nvSpPr>
        <p:spPr>
          <a:xfrm>
            <a:off x="2196557" y="165026"/>
            <a:ext cx="1242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" name="Google Shape;16;p11"/>
          <p:cNvSpPr txBox="1"/>
          <p:nvPr/>
        </p:nvSpPr>
        <p:spPr>
          <a:xfrm>
            <a:off x="8373525" y="90649"/>
            <a:ext cx="369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475" lIns="88475" spcFirstLastPara="1" rIns="88475" wrap="square" tIns="8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>
  <p:cSld name="BLANK_3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9" name="Google Shape;19;p12"/>
          <p:cNvSpPr txBox="1"/>
          <p:nvPr/>
        </p:nvSpPr>
        <p:spPr>
          <a:xfrm>
            <a:off x="476125" y="165026"/>
            <a:ext cx="6444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22222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Coderhouse</a:t>
            </a:r>
            <a:endParaRPr b="0" i="0" sz="500" u="none" cap="none" strike="noStrike">
              <a:solidFill>
                <a:srgbClr val="22222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" name="Google Shape;20;p12"/>
          <p:cNvSpPr txBox="1"/>
          <p:nvPr/>
        </p:nvSpPr>
        <p:spPr>
          <a:xfrm>
            <a:off x="6923014" y="165026"/>
            <a:ext cx="11886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22222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Internal  Presentation</a:t>
            </a:r>
            <a:endParaRPr b="0" i="0" sz="500" u="none" cap="none" strike="noStrike">
              <a:solidFill>
                <a:srgbClr val="22222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" name="Google Shape;21;p12"/>
          <p:cNvSpPr txBox="1"/>
          <p:nvPr/>
        </p:nvSpPr>
        <p:spPr>
          <a:xfrm>
            <a:off x="2196557" y="165026"/>
            <a:ext cx="1242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22222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</a:t>
            </a:r>
            <a:endParaRPr b="0" i="0" sz="500" u="none" cap="none" strike="noStrike">
              <a:solidFill>
                <a:srgbClr val="22222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" name="Google Shape;22;p12"/>
          <p:cNvSpPr txBox="1"/>
          <p:nvPr/>
        </p:nvSpPr>
        <p:spPr>
          <a:xfrm>
            <a:off x="8373525" y="90649"/>
            <a:ext cx="369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475" lIns="88475" spcFirstLastPara="1" rIns="88475" wrap="square" tIns="8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b="0" i="0" lang="es" sz="500" u="none" cap="none" strike="noStrike">
                <a:solidFill>
                  <a:srgbClr val="22222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0" i="0" sz="500" u="none" cap="none" strike="noStrike">
              <a:solidFill>
                <a:srgbClr val="22222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eige" type="blank">
  <p:cSld name="BLANK">
    <p:bg>
      <p:bgPr>
        <a:solidFill>
          <a:srgbClr val="F8F2E8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1">
  <p:cSld name="BLANK_3_1_1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4" title="pexels-dystopiasavagestudios-33048706 1.png"/>
          <p:cNvPicPr preferRelativeResize="0"/>
          <p:nvPr/>
        </p:nvPicPr>
        <p:blipFill rotWithShape="1">
          <a:blip r:embed="rId2">
            <a:alphaModFix/>
          </a:blip>
          <a:srcRect b="41729" l="0" r="0" t="13874"/>
          <a:stretch/>
        </p:blipFill>
        <p:spPr>
          <a:xfrm>
            <a:off x="-45875" y="-37100"/>
            <a:ext cx="9235753" cy="518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4"/>
          <p:cNvSpPr txBox="1"/>
          <p:nvPr/>
        </p:nvSpPr>
        <p:spPr>
          <a:xfrm>
            <a:off x="476125" y="165026"/>
            <a:ext cx="6444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Coderhouse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" name="Google Shape;28;p14"/>
          <p:cNvSpPr txBox="1"/>
          <p:nvPr/>
        </p:nvSpPr>
        <p:spPr>
          <a:xfrm>
            <a:off x="6923014" y="165026"/>
            <a:ext cx="11886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Internal  Presentation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" name="Google Shape;29;p14"/>
          <p:cNvSpPr txBox="1"/>
          <p:nvPr/>
        </p:nvSpPr>
        <p:spPr>
          <a:xfrm>
            <a:off x="2196557" y="165026"/>
            <a:ext cx="1242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" name="Google Shape;30;p14"/>
          <p:cNvSpPr txBox="1"/>
          <p:nvPr/>
        </p:nvSpPr>
        <p:spPr>
          <a:xfrm>
            <a:off x="8373525" y="90649"/>
            <a:ext cx="369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475" lIns="88475" spcFirstLastPara="1" rIns="88475" wrap="square" tIns="8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" name="Google Shape;33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" name="Google Shape;3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6" name="Google Shape;5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5" name="Google Shape;6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tardecer">
  <p:cSld name="BLANK_4">
    <p:bg>
      <p:bgPr>
        <a:solidFill>
          <a:srgbClr val="F8F2E8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2" name="Google Shape;72;p25" title="Group 1321318181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076162"/>
            <a:ext cx="9143997" cy="3067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1 1">
  <p:cSld name="BLANK_3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6" title="4d917f2d-7c08-49ef-b177-326a60a5c815.png"/>
          <p:cNvPicPr preferRelativeResize="0"/>
          <p:nvPr/>
        </p:nvPicPr>
        <p:blipFill rotWithShape="1">
          <a:blip r:embed="rId2">
            <a:alphaModFix/>
          </a:blip>
          <a:srcRect b="23542" l="0" r="0" t="34388"/>
          <a:stretch/>
        </p:blipFill>
        <p:spPr>
          <a:xfrm>
            <a:off x="-45875" y="-37100"/>
            <a:ext cx="9235753" cy="5180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6"/>
          <p:cNvSpPr txBox="1"/>
          <p:nvPr/>
        </p:nvSpPr>
        <p:spPr>
          <a:xfrm>
            <a:off x="476125" y="165026"/>
            <a:ext cx="6444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Coderhouse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6" name="Google Shape;76;p26"/>
          <p:cNvSpPr txBox="1"/>
          <p:nvPr/>
        </p:nvSpPr>
        <p:spPr>
          <a:xfrm>
            <a:off x="6923014" y="165026"/>
            <a:ext cx="11886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Internal  Presentation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7" name="Google Shape;77;p26"/>
          <p:cNvSpPr txBox="1"/>
          <p:nvPr/>
        </p:nvSpPr>
        <p:spPr>
          <a:xfrm>
            <a:off x="2196557" y="165026"/>
            <a:ext cx="12420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</a:t>
            </a:r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8" name="Google Shape;78;p26"/>
          <p:cNvSpPr txBox="1"/>
          <p:nvPr/>
        </p:nvSpPr>
        <p:spPr>
          <a:xfrm>
            <a:off x="8373525" y="90649"/>
            <a:ext cx="369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475" lIns="88475" spcFirstLastPara="1" rIns="88475" wrap="square" tIns="8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b="0" i="0" lang="es" sz="5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0" i="0" sz="5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gro">
  <p:cSld name="BLANK_2">
    <p:bg>
      <p:bgPr>
        <a:solidFill>
          <a:srgbClr val="171717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ranja">
  <p:cSld name="BLANK_2_1_1">
    <p:bg>
      <p:bgPr>
        <a:solidFill>
          <a:srgbClr val="FF632B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sa">
  <p:cSld name="BLANK_2_1_1_1">
    <p:bg>
      <p:bgPr>
        <a:solidFill>
          <a:srgbClr val="FE64A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diente">
  <p:cSld name="BLANK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30" title="Coder Facebook (6)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11725" y="0"/>
            <a:ext cx="9255725" cy="5206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6180025" y="314075"/>
            <a:ext cx="2630700" cy="17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Arial"/>
              <a:buNone/>
            </a:pPr>
            <a:r>
              <a:rPr b="0" i="0" lang="es" sz="13000" u="none" cap="none" strike="noStrike">
                <a:solidFill>
                  <a:srgbClr val="FF632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01</a:t>
            </a:r>
            <a:endParaRPr b="0" i="0" sz="13000" u="none" cap="none" strike="noStrike">
              <a:solidFill>
                <a:srgbClr val="FF632B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41650" y="3337375"/>
            <a:ext cx="64629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" sz="3600" u="none" cap="none" strike="noStrike">
                <a:solidFill>
                  <a:srgbClr val="F8F2E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El ciclo ReAct: el motor de la autonomía</a:t>
            </a:r>
            <a:endParaRPr b="0" i="0" sz="4800" u="none" cap="none" strike="noStrike">
              <a:solidFill>
                <a:srgbClr val="F8F2E8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739075" y="2866306"/>
            <a:ext cx="7815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F8F2E8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Un LLM solo no puede hacer nada: solo predice texto</a:t>
            </a:r>
            <a:endParaRPr b="0" i="0" sz="1200" u="none" cap="none" strike="noStrike">
              <a:solidFill>
                <a:srgbClr val="F8F2E8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415425" y="1727506"/>
            <a:ext cx="64629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rgbClr val="F8F2E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ReAct es el bucle que le da manos</a:t>
            </a:r>
            <a:endParaRPr b="0" i="0" sz="4800" u="none" cap="none" strike="noStrike">
              <a:solidFill>
                <a:srgbClr val="F8F2E8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3"/>
          <p:cNvGrpSpPr/>
          <p:nvPr/>
        </p:nvGrpSpPr>
        <p:grpSpPr>
          <a:xfrm>
            <a:off x="3045400" y="1358500"/>
            <a:ext cx="3053200" cy="185400"/>
            <a:chOff x="2850500" y="1311400"/>
            <a:chExt cx="3053200" cy="185400"/>
          </a:xfrm>
        </p:grpSpPr>
        <p:sp>
          <p:nvSpPr>
            <p:cNvPr id="104" name="Google Shape;104;p3"/>
            <p:cNvSpPr/>
            <p:nvPr/>
          </p:nvSpPr>
          <p:spPr>
            <a:xfrm>
              <a:off x="2850500" y="1311400"/>
              <a:ext cx="989400" cy="185400"/>
            </a:xfrm>
            <a:prstGeom prst="roundRect">
              <a:avLst>
                <a:gd fmla="val 50000" name="adj"/>
              </a:avLst>
            </a:prstGeom>
            <a:solidFill>
              <a:srgbClr val="1717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rgbClr val="F8F2E8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THOUGHT</a:t>
              </a:r>
              <a:endParaRPr b="0" i="0" sz="800" u="none" cap="none" strike="noStrike">
                <a:solidFill>
                  <a:srgbClr val="F8F2E8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3882400" y="1311400"/>
              <a:ext cx="989400" cy="185400"/>
            </a:xfrm>
            <a:prstGeom prst="roundRect">
              <a:avLst>
                <a:gd fmla="val 50000" name="adj"/>
              </a:avLst>
            </a:prstGeom>
            <a:solidFill>
              <a:srgbClr val="F8F2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rgbClr val="171717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ACTION</a:t>
              </a:r>
              <a:endParaRPr b="0" i="0" sz="8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4914300" y="1311400"/>
              <a:ext cx="989400" cy="185400"/>
            </a:xfrm>
            <a:prstGeom prst="roundRect">
              <a:avLst>
                <a:gd fmla="val 50000" name="adj"/>
              </a:avLst>
            </a:prstGeom>
            <a:solidFill>
              <a:srgbClr val="F8F2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rgbClr val="171717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OBSERVATION</a:t>
              </a:r>
              <a:endParaRPr b="0" i="0" sz="8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1340550" y="656475"/>
            <a:ext cx="64629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Reason + Act</a:t>
            </a:r>
            <a:endParaRPr b="0" i="0" sz="2800" u="none" cap="none" strike="noStrike">
              <a:solidFill>
                <a:srgbClr val="2607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228250" y="3510150"/>
            <a:ext cx="2104500" cy="738000"/>
          </a:xfrm>
          <a:prstGeom prst="round2SameRect">
            <a:avLst>
              <a:gd fmla="val 0" name="adj1"/>
              <a:gd fmla="val 34038" name="adj2"/>
            </a:avLst>
          </a:prstGeom>
          <a:solidFill>
            <a:srgbClr val="260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6521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Pensamiento</a:t>
            </a:r>
            <a:endParaRPr b="1" i="0" sz="13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16521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8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modelo analiza la situación y decide qué necesita hacer.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3517713" y="3510150"/>
            <a:ext cx="2104500" cy="738000"/>
          </a:xfrm>
          <a:prstGeom prst="round2SameRect">
            <a:avLst>
              <a:gd fmla="val 0" name="adj1"/>
              <a:gd fmla="val 34038" name="adj2"/>
            </a:avLst>
          </a:prstGeom>
          <a:solidFill>
            <a:srgbClr val="260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6521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3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Acción</a:t>
            </a:r>
            <a:endParaRPr b="1" i="0" sz="13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16521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8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Elige una herramienta y genera sus argumentos en JSON.</a:t>
            </a:r>
            <a:endParaRPr b="0" i="0" sz="8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807200" y="3510150"/>
            <a:ext cx="2104500" cy="738000"/>
          </a:xfrm>
          <a:prstGeom prst="round2SameRect">
            <a:avLst>
              <a:gd fmla="val 0" name="adj1"/>
              <a:gd fmla="val 34038" name="adj2"/>
            </a:avLst>
          </a:prstGeom>
          <a:solidFill>
            <a:srgbClr val="260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6521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3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Observación</a:t>
            </a:r>
            <a:endParaRPr b="1" i="0" sz="13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16521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n8n ejecuta el nodo y le devuelve el resultado. Si el objetivo no está cumplido, vuelve al paso 1.</a:t>
            </a:r>
            <a:endParaRPr b="0" i="0" sz="800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/>
        </p:nvSpPr>
        <p:spPr>
          <a:xfrm>
            <a:off x="739075" y="2481425"/>
            <a:ext cx="7815600" cy="22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El modelo es stateless: no recuerda nada entre vueltas.</a:t>
            </a:r>
            <a:endParaRPr b="0" i="0" sz="1200" u="none" cap="none" strike="noStrike">
              <a:solidFill>
                <a:srgbClr val="171717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Cada vuelta es una llamada NUEVA y COMPLETA a la API.</a:t>
            </a:r>
            <a:endParaRPr b="0" i="0" sz="1200" u="none" cap="none" strike="noStrike">
              <a:solidFill>
                <a:srgbClr val="171717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n8n le reenvía todo: system prompt + tools + historial de thoughts, actions y observations.</a:t>
            </a:r>
            <a:endParaRPr b="0" i="0" sz="1200" u="none" cap="none" strike="noStrike">
              <a:solidFill>
                <a:srgbClr val="171717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Por eso la 5ª vuelta puede costar el triple que la 1ª.</a:t>
            </a:r>
            <a:endParaRPr b="0" i="0" sz="1200" u="none" cap="none" strike="noStrike">
              <a:solidFill>
                <a:srgbClr val="171717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Por eso Max Iterations es un guardrail FINANCIERO, no técnico.</a:t>
            </a:r>
            <a:endParaRPr b="0" i="0" sz="1200" u="none" cap="none" strike="noStrike">
              <a:solidFill>
                <a:srgbClr val="171717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602400" y="659600"/>
            <a:ext cx="64629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rgbClr val="FF632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El detalle clave</a:t>
            </a:r>
            <a:endParaRPr b="0" i="0" sz="4800" u="none" cap="none" strike="noStrike">
              <a:solidFill>
                <a:srgbClr val="FF632B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739075" y="1432375"/>
            <a:ext cx="64629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1717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bucle no vive dentro del modelo: lo corre n8n</a:t>
            </a:r>
            <a:endParaRPr b="0" i="0" sz="2500" u="none" cap="none" strike="noStrike">
              <a:solidFill>
                <a:srgbClr val="17171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/>
        </p:nvSpPr>
        <p:spPr>
          <a:xfrm>
            <a:off x="2832560" y="0"/>
            <a:ext cx="60000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s" sz="5400" u="none" cap="none" strike="noStrike">
                <a:solidFill>
                  <a:srgbClr val="FF632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La traza real</a:t>
            </a:r>
            <a:endParaRPr b="0" i="0" sz="9600" u="none" cap="none" strike="noStrike">
              <a:solidFill>
                <a:srgbClr val="FF632B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649500" y="2512850"/>
            <a:ext cx="6462900" cy="22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Plus Jakarta Sans Light"/>
              <a:buAutoNum type="arabicPeriod"/>
            </a:pPr>
            <a:r>
              <a:rPr b="0" i="0" lang="es" sz="12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Usuario: "Marta Suárez, Delta Seguros, quiere una demo"</a:t>
            </a:r>
            <a:endParaRPr b="0" i="0" sz="1200" u="none" cap="none" strike="noStrike">
              <a:solidFill>
                <a:srgbClr val="171717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Plus Jakarta Sans Light"/>
              <a:buAutoNum type="arabicPeriod"/>
            </a:pPr>
            <a:r>
              <a:rPr b="0" i="0" lang="es" sz="12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Vuelta 1 · Thought: "debo verificar duplicados" → buscar_lead</a:t>
            </a:r>
            <a:endParaRPr b="0" i="0" sz="1200" u="none" cap="none" strike="noStrike">
              <a:solidFill>
                <a:srgbClr val="171717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Plus Jakarta Sans Light"/>
              <a:buAutoNum type="arabicPeriod"/>
            </a:pPr>
            <a:r>
              <a:rPr b="0" i="0" lang="es" sz="12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Vuelta 2 · Observation: no existe → registrar_lead</a:t>
            </a:r>
            <a:endParaRPr b="0" i="0" sz="1200" u="none" cap="none" strike="noStrike">
              <a:solidFill>
                <a:srgbClr val="171717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Plus Jakarta Sans Light"/>
              <a:buAutoNum type="arabicPeriod"/>
            </a:pPr>
            <a:r>
              <a:rPr b="0" i="0" lang="es" sz="12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Vuelta 3 · Thought: "tarea hecha, debo reportar" → log_observabilidad</a:t>
            </a:r>
            <a:endParaRPr b="0" i="0" sz="1200" u="none" cap="none" strike="noStrike">
              <a:solidFill>
                <a:srgbClr val="171717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Plus Jakarta Sans Light"/>
              <a:buAutoNum type="arabicPeriod"/>
            </a:pPr>
            <a:r>
              <a:rPr b="0" i="0" lang="es" sz="12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Vuelta 4 · "Objetivo cumplido" → respuesta final</a:t>
            </a:r>
            <a:endParaRPr b="0" i="0" sz="1200" u="none" cap="none" strike="noStrike">
              <a:solidFill>
                <a:srgbClr val="171717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Plus Jakarta Sans Light"/>
              <a:buAutoNum type="arabicPeriod"/>
            </a:pPr>
            <a:r>
              <a:rPr b="0" i="0" lang="es" sz="1200" u="none" cap="none" strike="noStrike">
                <a:solidFill>
                  <a:srgbClr val="171717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Vos nunca programaste ese orden: emergió del prompt y las descriptions.</a:t>
            </a:r>
            <a:endParaRPr b="0" i="0" sz="1200" u="none" cap="none" strike="noStrike">
              <a:solidFill>
                <a:srgbClr val="171717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/>
        </p:nvSpPr>
        <p:spPr>
          <a:xfrm>
            <a:off x="602400" y="659600"/>
            <a:ext cx="64629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rgbClr val="FF632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Auditarlo en n8n</a:t>
            </a:r>
            <a:endParaRPr b="0" i="0" sz="2400" u="none" cap="none" strike="noStrike">
              <a:solidFill>
                <a:srgbClr val="2607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67475" y="1641200"/>
            <a:ext cx="3942300" cy="2081100"/>
          </a:xfrm>
          <a:prstGeom prst="roundRect">
            <a:avLst>
              <a:gd fmla="val 16667" name="adj"/>
            </a:avLst>
          </a:prstGeom>
          <a:solidFill>
            <a:srgbClr val="F8F2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el Execution Log, el nodo AI Agent despliega el ciclo completo.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766370" y="1641200"/>
            <a:ext cx="3942300" cy="2081100"/>
          </a:xfrm>
          <a:prstGeom prst="roundRect">
            <a:avLst>
              <a:gd fmla="val 16667" name="adj"/>
            </a:avLst>
          </a:prstGeom>
          <a:solidFill>
            <a:srgbClr val="F8F2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Ves cada Thought, el JSON exacto de cada Tool y su Observation.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67475" y="3866726"/>
            <a:ext cx="8041200" cy="840300"/>
          </a:xfrm>
          <a:prstGeom prst="roundRect">
            <a:avLst>
              <a:gd fmla="val 30840" name="adj"/>
            </a:avLst>
          </a:prstGeom>
          <a:solidFill>
            <a:srgbClr val="F8F2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Contar las cajas = contar las vueltas. Eso pide la rúbrica del Checkpoint 1.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/>
        </p:nvSpPr>
        <p:spPr>
          <a:xfrm>
            <a:off x="601100" y="678225"/>
            <a:ext cx="82200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s" sz="3700" u="none" cap="none" strike="noStrike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Cómo se rompe el ciclo</a:t>
            </a:r>
            <a:endParaRPr b="0" i="0" sz="3700" u="none" cap="none" strike="noStrike">
              <a:solidFill>
                <a:srgbClr val="2607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07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37" name="Google Shape;137;p7"/>
          <p:cNvSpPr/>
          <p:nvPr/>
        </p:nvSpPr>
        <p:spPr>
          <a:xfrm flipH="1">
            <a:off x="752578" y="2177175"/>
            <a:ext cx="2328900" cy="2328900"/>
          </a:xfrm>
          <a:prstGeom prst="foldedCorner">
            <a:avLst>
              <a:gd fmla="val 16667" name="adj"/>
            </a:avLst>
          </a:prstGeom>
          <a:solidFill>
            <a:srgbClr val="FF632B"/>
          </a:solidFill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" sz="1229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Description vaga: el Thought no sabe qué tool sirve y la saltea.</a:t>
            </a:r>
            <a:endParaRPr b="0" i="0" sz="1229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8" name="Google Shape;138;p7"/>
          <p:cNvSpPr/>
          <p:nvPr/>
        </p:nvSpPr>
        <p:spPr>
          <a:xfrm flipH="1">
            <a:off x="3215420" y="2177175"/>
            <a:ext cx="2328900" cy="2328900"/>
          </a:xfrm>
          <a:prstGeom prst="foldedCorner">
            <a:avLst>
              <a:gd fmla="val 16667" name="adj"/>
            </a:avLst>
          </a:prstGeom>
          <a:solidFill>
            <a:srgbClr val="FE64A3"/>
          </a:solidFill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" sz="1229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 memoria: olvida la vuelta anterior y repite acciones.</a:t>
            </a:r>
            <a:endParaRPr b="0" i="0" sz="1229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9" name="Google Shape;139;p7"/>
          <p:cNvSpPr/>
          <p:nvPr/>
        </p:nvSpPr>
        <p:spPr>
          <a:xfrm flipH="1">
            <a:off x="5741925" y="2177175"/>
            <a:ext cx="2328900" cy="2328900"/>
          </a:xfrm>
          <a:prstGeom prst="foldedCorner">
            <a:avLst>
              <a:gd fmla="val 16667" name="adj"/>
            </a:avLst>
          </a:prstGeom>
          <a:solidFill>
            <a:srgbClr val="FDAB2E"/>
          </a:solidFill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9"/>
              <a:buFont typeface="Arial"/>
              <a:buNone/>
            </a:pPr>
            <a:r>
              <a:rPr b="0" i="0" lang="es" sz="1229" u="none" cap="none" strike="noStrike">
                <a:solidFill>
                  <a:srgbClr val="F8F2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Tool que falla: reintenta en bucle. Ahí corta Max Iterations.</a:t>
            </a:r>
            <a:endParaRPr b="0" i="0" sz="1229" u="none" cap="none" strike="noStrike">
              <a:solidFill>
                <a:srgbClr val="F8F2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/>
        </p:nvSpPr>
        <p:spPr>
          <a:xfrm>
            <a:off x="739075" y="2866306"/>
            <a:ext cx="7815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F8F2E8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No le das el camino: le das el objetivo, las herramientas y los límites</a:t>
            </a:r>
            <a:endParaRPr b="0" i="0" sz="1200" u="none" cap="none" strike="noStrike">
              <a:solidFill>
                <a:srgbClr val="F8F2E8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1415425" y="1727506"/>
            <a:ext cx="64629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" sz="4800" u="none" cap="none" strike="noStrike">
                <a:solidFill>
                  <a:srgbClr val="F8F2E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El agente arma su propio plan</a:t>
            </a:r>
            <a:endParaRPr b="0" i="0" sz="4800" u="none" cap="none" strike="noStrike">
              <a:solidFill>
                <a:srgbClr val="F8F2E8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