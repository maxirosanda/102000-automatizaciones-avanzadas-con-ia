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us Jakarta Sans ExtraBold"/>
      <p:bold r:id="rId13"/>
      <p:boldItalic r:id="rId14"/>
    </p:embeddedFont>
    <p:embeddedFont>
      <p:font typeface="Plus Jakarta Sans"/>
      <p:regular r:id="rId15"/>
      <p:bold r:id="rId16"/>
      <p:italic r:id="rId17"/>
      <p:boldItalic r:id="rId18"/>
    </p:embeddedFont>
    <p:embeddedFont>
      <p:font typeface="Plus Jakarta Sans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gasCbMmFUlVy3yuzPWSX1B2n/j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Light-bold.fntdata"/><Relationship Id="rId11" Type="http://schemas.openxmlformats.org/officeDocument/2006/relationships/slide" Target="slides/slide6.xml"/><Relationship Id="rId22" Type="http://schemas.openxmlformats.org/officeDocument/2006/relationships/font" Target="fonts/PlusJakartaSansLight-bold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Light-italic.fntdata"/><Relationship Id="rId13" Type="http://schemas.openxmlformats.org/officeDocument/2006/relationships/font" Target="fonts/PlusJakartaSansExtraBold-bold.fntdata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regular.fntdata"/><Relationship Id="rId14" Type="http://schemas.openxmlformats.org/officeDocument/2006/relationships/font" Target="fonts/PlusJakartaSansExtraBold-boldItalic.fntdata"/><Relationship Id="rId17" Type="http://schemas.openxmlformats.org/officeDocument/2006/relationships/font" Target="fonts/PlusJakartaSans-italic.fntdata"/><Relationship Id="rId16" Type="http://schemas.openxmlformats.org/officeDocument/2006/relationships/font" Target="fonts/PlusJakartaSa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Light-regular.fntdata"/><Relationship Id="rId6" Type="http://schemas.openxmlformats.org/officeDocument/2006/relationships/slide" Target="slides/slide1.xml"/><Relationship Id="rId18" Type="http://schemas.openxmlformats.org/officeDocument/2006/relationships/font" Target="fonts/PlusJakarta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rón">
  <p:cSld name="BLANK_2_1">
    <p:bg>
      <p:bgPr>
        <a:solidFill>
          <a:srgbClr val="2607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">
  <p:cSld name="BLANK_3_1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0" title="27800720-6c2b-4e33-a6ed-849e08f57757.png"/>
          <p:cNvPicPr preferRelativeResize="0"/>
          <p:nvPr/>
        </p:nvPicPr>
        <p:blipFill rotWithShape="1">
          <a:blip r:embed="rId2">
            <a:alphaModFix/>
          </a:blip>
          <a:srcRect b="53400" l="0" r="0" t="15047"/>
          <a:stretch/>
        </p:blipFill>
        <p:spPr>
          <a:xfrm>
            <a:off x="-45875" y="-37100"/>
            <a:ext cx="9235751" cy="51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0"/>
          <p:cNvSpPr txBox="1"/>
          <p:nvPr/>
        </p:nvSpPr>
        <p:spPr>
          <a:xfrm>
            <a:off x="476125" y="165026"/>
            <a:ext cx="6444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Coderhouse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6923014" y="165026"/>
            <a:ext cx="1188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 Presentation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" name="Google Shape;15;p10"/>
          <p:cNvSpPr txBox="1"/>
          <p:nvPr/>
        </p:nvSpPr>
        <p:spPr>
          <a:xfrm>
            <a:off x="2196557" y="165026"/>
            <a:ext cx="1242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" name="Google Shape;16;p10"/>
          <p:cNvSpPr txBox="1"/>
          <p:nvPr/>
        </p:nvSpPr>
        <p:spPr>
          <a:xfrm>
            <a:off x="8373525" y="90649"/>
            <a:ext cx="36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475" lIns="88475" spcFirstLastPara="1" rIns="88475" wrap="square" tIns="8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>
  <p:cSld name="BLANK_3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" name="Google Shape;19;p11"/>
          <p:cNvSpPr txBox="1"/>
          <p:nvPr/>
        </p:nvSpPr>
        <p:spPr>
          <a:xfrm>
            <a:off x="476125" y="165026"/>
            <a:ext cx="6444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2222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Coderhouse</a:t>
            </a:r>
            <a:endParaRPr b="0" i="0" sz="500" u="none" cap="none" strike="noStrike">
              <a:solidFill>
                <a:srgbClr val="22222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" name="Google Shape;20;p11"/>
          <p:cNvSpPr txBox="1"/>
          <p:nvPr/>
        </p:nvSpPr>
        <p:spPr>
          <a:xfrm>
            <a:off x="6923014" y="165026"/>
            <a:ext cx="1188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2222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 Presentation</a:t>
            </a:r>
            <a:endParaRPr b="0" i="0" sz="500" u="none" cap="none" strike="noStrike">
              <a:solidFill>
                <a:srgbClr val="22222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" name="Google Shape;21;p11"/>
          <p:cNvSpPr txBox="1"/>
          <p:nvPr/>
        </p:nvSpPr>
        <p:spPr>
          <a:xfrm>
            <a:off x="2196557" y="165026"/>
            <a:ext cx="1242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2222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500" u="none" cap="none" strike="noStrike">
              <a:solidFill>
                <a:srgbClr val="22222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" name="Google Shape;22;p11"/>
          <p:cNvSpPr txBox="1"/>
          <p:nvPr/>
        </p:nvSpPr>
        <p:spPr>
          <a:xfrm>
            <a:off x="8373525" y="90649"/>
            <a:ext cx="36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475" lIns="88475" spcFirstLastPara="1" rIns="88475" wrap="square" tIns="8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s" sz="500" u="none" cap="none" strike="noStrike">
                <a:solidFill>
                  <a:srgbClr val="2222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0" i="0" sz="500" u="none" cap="none" strike="noStrike">
              <a:solidFill>
                <a:srgbClr val="22222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1">
  <p:cSld name="BLANK_3_1_1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2" title="pexels-dystopiasavagestudios-33048706 1.png"/>
          <p:cNvPicPr preferRelativeResize="0"/>
          <p:nvPr/>
        </p:nvPicPr>
        <p:blipFill rotWithShape="1">
          <a:blip r:embed="rId2">
            <a:alphaModFix/>
          </a:blip>
          <a:srcRect b="41729" l="0" r="0" t="13874"/>
          <a:stretch/>
        </p:blipFill>
        <p:spPr>
          <a:xfrm>
            <a:off x="-45875" y="-37100"/>
            <a:ext cx="9235753" cy="51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/>
          <p:nvPr/>
        </p:nvSpPr>
        <p:spPr>
          <a:xfrm>
            <a:off x="476125" y="165026"/>
            <a:ext cx="6444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Coderhouse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" name="Google Shape;26;p12"/>
          <p:cNvSpPr txBox="1"/>
          <p:nvPr/>
        </p:nvSpPr>
        <p:spPr>
          <a:xfrm>
            <a:off x="6923014" y="165026"/>
            <a:ext cx="1188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 Presentation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" name="Google Shape;27;p12"/>
          <p:cNvSpPr txBox="1"/>
          <p:nvPr/>
        </p:nvSpPr>
        <p:spPr>
          <a:xfrm>
            <a:off x="2196557" y="165026"/>
            <a:ext cx="1242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" name="Google Shape;28;p12"/>
          <p:cNvSpPr txBox="1"/>
          <p:nvPr/>
        </p:nvSpPr>
        <p:spPr>
          <a:xfrm>
            <a:off x="8373525" y="90649"/>
            <a:ext cx="36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475" lIns="88475" spcFirstLastPara="1" rIns="88475" wrap="square" tIns="8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" name="Google Shape;3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3" name="Google Shape;6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eige" type="blank">
  <p:cSld name="BLANK">
    <p:bg>
      <p:bgPr>
        <a:solidFill>
          <a:srgbClr val="F8F2E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tardecer">
  <p:cSld name="BLANK_4">
    <p:bg>
      <p:bgPr>
        <a:solidFill>
          <a:srgbClr val="F8F2E8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2" name="Google Shape;72;p24" title="Group 132131818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1 1">
  <p:cSld name="BLANK_3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5" title="4d917f2d-7c08-49ef-b177-326a60a5c815.png"/>
          <p:cNvPicPr preferRelativeResize="0"/>
          <p:nvPr/>
        </p:nvPicPr>
        <p:blipFill rotWithShape="1">
          <a:blip r:embed="rId2">
            <a:alphaModFix/>
          </a:blip>
          <a:srcRect b="23542" l="0" r="0" t="34388"/>
          <a:stretch/>
        </p:blipFill>
        <p:spPr>
          <a:xfrm>
            <a:off x="-45875" y="-37100"/>
            <a:ext cx="9235753" cy="51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5"/>
          <p:cNvSpPr txBox="1"/>
          <p:nvPr/>
        </p:nvSpPr>
        <p:spPr>
          <a:xfrm>
            <a:off x="476125" y="165026"/>
            <a:ext cx="6444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Coderhouse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6" name="Google Shape;76;p25"/>
          <p:cNvSpPr txBox="1"/>
          <p:nvPr/>
        </p:nvSpPr>
        <p:spPr>
          <a:xfrm>
            <a:off x="6923014" y="165026"/>
            <a:ext cx="1188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 Presentation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7" name="Google Shape;77;p25"/>
          <p:cNvSpPr txBox="1"/>
          <p:nvPr/>
        </p:nvSpPr>
        <p:spPr>
          <a:xfrm>
            <a:off x="2196557" y="165026"/>
            <a:ext cx="1242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" name="Google Shape;78;p25"/>
          <p:cNvSpPr txBox="1"/>
          <p:nvPr/>
        </p:nvSpPr>
        <p:spPr>
          <a:xfrm>
            <a:off x="8373525" y="90649"/>
            <a:ext cx="36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475" lIns="88475" spcFirstLastPara="1" rIns="88475" wrap="square" tIns="8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gro">
  <p:cSld name="BLANK_2">
    <p:bg>
      <p:bgPr>
        <a:solidFill>
          <a:srgbClr val="171717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ranja">
  <p:cSld name="BLANK_2_1_1">
    <p:bg>
      <p:bgPr>
        <a:solidFill>
          <a:srgbClr val="FF632B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sa">
  <p:cSld name="BLANK_2_1_1_1">
    <p:bg>
      <p:bgPr>
        <a:solidFill>
          <a:srgbClr val="FE64A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diente">
  <p:cSld name="BLANK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9" title="Coder Facebook (6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1725" y="0"/>
            <a:ext cx="9255725" cy="520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6180025" y="314075"/>
            <a:ext cx="2630700" cy="17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0" i="0" lang="es" sz="13000" u="none" cap="none" strike="noStrike">
                <a:solidFill>
                  <a:srgbClr val="FF632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</a:t>
            </a:r>
            <a:endParaRPr b="0" i="0" sz="13000" u="none" cap="none" strike="noStrike">
              <a:solidFill>
                <a:srgbClr val="FF632B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41650" y="3337375"/>
            <a:ext cx="646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F8F2E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Cómo piensa una Tool: $fromAI y Descriptions</a:t>
            </a:r>
            <a:endParaRPr b="0" i="0" sz="4800" u="none" cap="none" strike="noStrike">
              <a:solidFill>
                <a:srgbClr val="F8F2E8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739075" y="2866306"/>
            <a:ext cx="7815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8F2E8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Solo ve un contrato: nombre, description y parámetros (function calling)</a:t>
            </a:r>
            <a:endParaRPr b="0" i="0" sz="1200" u="none" cap="none" strike="noStrike">
              <a:solidFill>
                <a:srgbClr val="F8F2E8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415425" y="1727506"/>
            <a:ext cx="64629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rgbClr val="F8F2E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El modelo no ve tus nodos</a:t>
            </a:r>
            <a:endParaRPr b="0" i="0" sz="4800" u="none" cap="none" strike="noStrike">
              <a:solidFill>
                <a:srgbClr val="F8F2E8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739075" y="2481425"/>
            <a:ext cx="7815600" cy="22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name: "buscar_lead"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description: "Usá esta herramienta SIEMPRE antes de registrar un lead nuevo…"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parameters: { email: string — "Email exacto del lead a buscar" }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Cada $fromAI de la tool se convierte en un parámetro de este contrato.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El modelo NO ve: la credencial, el documento, las filas ni el canvas.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602400" y="659600"/>
            <a:ext cx="646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rgbClr val="FF632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El contrato</a:t>
            </a:r>
            <a:endParaRPr b="0" i="0" sz="4800" u="none" cap="none" strike="noStrike">
              <a:solidFill>
                <a:srgbClr val="FF632B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739075" y="1432375"/>
            <a:ext cx="646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1717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 que el modelo recibe por cada tool conectada al agente</a:t>
            </a:r>
            <a:endParaRPr b="0" i="0" sz="2500" u="none" cap="none" strike="noStrike">
              <a:solidFill>
                <a:srgbClr val="17171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4"/>
          <p:cNvGrpSpPr/>
          <p:nvPr/>
        </p:nvGrpSpPr>
        <p:grpSpPr>
          <a:xfrm>
            <a:off x="3045400" y="1358500"/>
            <a:ext cx="3053200" cy="185400"/>
            <a:chOff x="2850500" y="1311400"/>
            <a:chExt cx="3053200" cy="185400"/>
          </a:xfrm>
        </p:grpSpPr>
        <p:sp>
          <p:nvSpPr>
            <p:cNvPr id="111" name="Google Shape;111;p4"/>
            <p:cNvSpPr/>
            <p:nvPr/>
          </p:nvSpPr>
          <p:spPr>
            <a:xfrm>
              <a:off x="2850500" y="1311400"/>
              <a:ext cx="989400" cy="185400"/>
            </a:xfrm>
            <a:prstGeom prst="roundRect">
              <a:avLst>
                <a:gd fmla="val 50000" name="adj"/>
              </a:avLst>
            </a:prstGeom>
            <a:solidFill>
              <a:srgbClr val="1717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F8F2E8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PASO 1</a:t>
              </a:r>
              <a:endParaRPr b="0" i="0" sz="800" u="none" cap="none" strike="noStrike">
                <a:solidFill>
                  <a:srgbClr val="F8F2E8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3882400" y="1311400"/>
              <a:ext cx="989400" cy="185400"/>
            </a:xfrm>
            <a:prstGeom prst="roundRect">
              <a:avLst>
                <a:gd fmla="val 50000" name="adj"/>
              </a:avLst>
            </a:prstGeom>
            <a:solidFill>
              <a:srgbClr val="F8F2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171717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PASO 2</a:t>
              </a:r>
              <a:endParaRPr b="0" i="0" sz="8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914300" y="1311400"/>
              <a:ext cx="989400" cy="185400"/>
            </a:xfrm>
            <a:prstGeom prst="roundRect">
              <a:avLst>
                <a:gd fmla="val 50000" name="adj"/>
              </a:avLst>
            </a:prstGeom>
            <a:solidFill>
              <a:srgbClr val="F8F2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171717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PASO 3</a:t>
              </a:r>
              <a:endParaRPr b="0" i="0" sz="8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sp>
        <p:nvSpPr>
          <p:cNvPr id="114" name="Google Shape;114;p4"/>
          <p:cNvSpPr txBox="1"/>
          <p:nvPr/>
        </p:nvSpPr>
        <p:spPr>
          <a:xfrm>
            <a:off x="1340550" y="656475"/>
            <a:ext cx="646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El ciclo de $fromAI</a:t>
            </a:r>
            <a:endParaRPr b="0" i="0" sz="2800" u="none" cap="none" strike="noStrike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228250" y="3510150"/>
            <a:ext cx="2104500" cy="738000"/>
          </a:xfrm>
          <a:prstGeom prst="round2SameRect">
            <a:avLst>
              <a:gd fmla="val 0" name="adj1"/>
              <a:gd fmla="val 34038" name="adj2"/>
            </a:avLst>
          </a:prstGeom>
          <a:solidFill>
            <a:srgbClr val="260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Schema</a:t>
            </a:r>
            <a:endParaRPr b="1" i="0" sz="13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8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n8n convierte cada $fromAI en un parámetro de la función.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517713" y="3510150"/>
            <a:ext cx="2104500" cy="738000"/>
          </a:xfrm>
          <a:prstGeom prst="round2SameRect">
            <a:avLst>
              <a:gd fmla="val 0" name="adj1"/>
              <a:gd fmla="val 34038" name="adj2"/>
            </a:avLst>
          </a:prstGeom>
          <a:solidFill>
            <a:srgbClr val="260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3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Generación</a:t>
            </a:r>
            <a:endParaRPr b="1" i="0" sz="13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8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modelo decide llamar la tool y produce los argumentos en JSON.</a:t>
            </a:r>
            <a:endParaRPr b="0" i="0" sz="8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807200" y="3510150"/>
            <a:ext cx="2104500" cy="738000"/>
          </a:xfrm>
          <a:prstGeom prst="round2SameRect">
            <a:avLst>
              <a:gd fmla="val 0" name="adj1"/>
              <a:gd fmla="val 34038" name="adj2"/>
            </a:avLst>
          </a:prstGeom>
          <a:solidFill>
            <a:srgbClr val="260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3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Ejecución</a:t>
            </a:r>
            <a:endParaRPr b="1" i="0" sz="13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n8n reemplaza los placeholders, corre el nodo y devuelve el resultado como Observation.</a:t>
            </a:r>
            <a:endParaRPr b="0" i="0" sz="8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/>
        </p:nvSpPr>
        <p:spPr>
          <a:xfrm>
            <a:off x="602400" y="659600"/>
            <a:ext cx="646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rgbClr val="FF632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$fromAI en detalle</a:t>
            </a:r>
            <a:endParaRPr b="0" i="0" sz="2400" u="none" cap="none" strike="noStrike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67475" y="1641200"/>
            <a:ext cx="3942300" cy="2081100"/>
          </a:xfrm>
          <a:prstGeom prst="roundRect">
            <a:avLst>
              <a:gd fmla="val 16667" name="adj"/>
            </a:avLst>
          </a:prstGeom>
          <a:solidFill>
            <a:srgbClr val="F8F2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$fromAI('clave', 'descripción', 'tipo', default) — tipos: string, number, boolean, json.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766370" y="1641200"/>
            <a:ext cx="3942300" cy="2081100"/>
          </a:xfrm>
          <a:prstGeom prst="roundRect">
            <a:avLst>
              <a:gd fmla="val 16667" name="adj"/>
            </a:avLst>
          </a:prstGeom>
          <a:solidFill>
            <a:srgbClr val="F8F2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Solo existe en tools conectadas al AI Agent y se puede mezclar con texto estático.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67475" y="3866726"/>
            <a:ext cx="8041200" cy="840300"/>
          </a:xfrm>
          <a:prstGeom prst="roundRect">
            <a:avLst>
              <a:gd fmla="val 30840" name="adj"/>
            </a:avLst>
          </a:prstGeom>
          <a:solidFill>
            <a:srgbClr val="F8F2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botón ✨ "Let the model fill" simplemente inserta un $fromAI automático.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601100" y="678225"/>
            <a:ext cx="82200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s" sz="3700" u="none" cap="none" strike="noStrike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La calidad de las descriptions ES la calidad del agente</a:t>
            </a:r>
            <a:endParaRPr b="0" i="0" sz="3700" u="none" cap="none" strike="noStrike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31" name="Google Shape;131;p6"/>
          <p:cNvSpPr/>
          <p:nvPr/>
        </p:nvSpPr>
        <p:spPr>
          <a:xfrm flipH="1">
            <a:off x="752578" y="2177175"/>
            <a:ext cx="2328900" cy="2328900"/>
          </a:xfrm>
          <a:prstGeom prst="foldedCorner">
            <a:avLst>
              <a:gd fmla="val 16667" name="adj"/>
            </a:avLst>
          </a:prstGeom>
          <a:solidFill>
            <a:srgbClr val="FF632B"/>
          </a:solidFill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" sz="1229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toolDescription: le dice al modelo CUÁNDO usar la función.</a:t>
            </a:r>
            <a:endParaRPr b="0" i="0" sz="1229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2" name="Google Shape;132;p6"/>
          <p:cNvSpPr/>
          <p:nvPr/>
        </p:nvSpPr>
        <p:spPr>
          <a:xfrm flipH="1">
            <a:off x="3215420" y="2177175"/>
            <a:ext cx="2328900" cy="2328900"/>
          </a:xfrm>
          <a:prstGeom prst="foldedCorner">
            <a:avLst>
              <a:gd fmla="val 16667" name="adj"/>
            </a:avLst>
          </a:prstGeom>
          <a:solidFill>
            <a:srgbClr val="FE64A3"/>
          </a:solidFill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" sz="1229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Description del $fromAI: QUÉ poner en cada argumento.</a:t>
            </a:r>
            <a:endParaRPr b="0" i="0" sz="1229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3" name="Google Shape;133;p6"/>
          <p:cNvSpPr/>
          <p:nvPr/>
        </p:nvSpPr>
        <p:spPr>
          <a:xfrm flipH="1">
            <a:off x="5741925" y="2177175"/>
            <a:ext cx="2328900" cy="2328900"/>
          </a:xfrm>
          <a:prstGeom prst="foldedCorner">
            <a:avLst>
              <a:gd fmla="val 16667" name="adj"/>
            </a:avLst>
          </a:prstGeom>
          <a:solidFill>
            <a:srgbClr val="FDAB2E"/>
          </a:solidFill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" sz="1229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Description vaga = instrucción huérfana: el nodo funciona, el criterio se rompe.</a:t>
            </a:r>
            <a:endParaRPr b="0" i="0" sz="1229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739075" y="2866306"/>
            <a:ext cx="7815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8F2E8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System Prompt = reglas del empleado · Descriptions = manual de sus herramientas · $fromAI = espacios en blanco del formulario</a:t>
            </a:r>
            <a:endParaRPr b="0" i="0" sz="1200" u="none" cap="none" strike="noStrike">
              <a:solidFill>
                <a:srgbClr val="F8F2E8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1415425" y="1727506"/>
            <a:ext cx="64629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rgbClr val="F8F2E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La description ES el agente</a:t>
            </a:r>
            <a:endParaRPr b="0" i="0" sz="4800" u="none" cap="none" strike="noStrike">
              <a:solidFill>
                <a:srgbClr val="F8F2E8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